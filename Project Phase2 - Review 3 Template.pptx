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315" r:id="rId3"/>
    <p:sldId id="316" r:id="rId4"/>
    <p:sldId id="303" r:id="rId5"/>
    <p:sldId id="324" r:id="rId6"/>
    <p:sldId id="318" r:id="rId7"/>
    <p:sldId id="320" r:id="rId8"/>
    <p:sldId id="321" r:id="rId9"/>
    <p:sldId id="322" r:id="rId10"/>
    <p:sldId id="325" r:id="rId11"/>
    <p:sldId id="326" r:id="rId12"/>
    <p:sldId id="327" r:id="rId13"/>
    <p:sldId id="328" r:id="rId14"/>
    <p:sldId id="329" r:id="rId15"/>
    <p:sldId id="319" r:id="rId16"/>
    <p:sldId id="317" r:id="rId17"/>
  </p:sldIdLst>
  <p:sldSz cx="9144000" cy="5143500" type="screen16x9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0" autoAdjust="0"/>
    <p:restoredTop sz="87621" autoAdjust="0"/>
  </p:normalViewPr>
  <p:slideViewPr>
    <p:cSldViewPr>
      <p:cViewPr varScale="1">
        <p:scale>
          <a:sx n="79" d="100"/>
          <a:sy n="79" d="100"/>
        </p:scale>
        <p:origin x="822" y="3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2018 - 19 Phase II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672557-76BA-41F3-80B7-1C8DA466813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7FEFF5-99F1-4A28-A2CB-A6C4C664F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890444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r>
              <a:rPr lang="en-US"/>
              <a:t>2018 - 19 Phase II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A8ADFD5B-A66C-449C-B6E8-FB716D07777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CA5D3BF3-D352-46FC-8343-31F56E673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5087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t>1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2018 - 19 Phase II</a:t>
            </a:r>
          </a:p>
        </p:txBody>
      </p:sp>
    </p:spTree>
    <p:extLst>
      <p:ext uri="{BB962C8B-B14F-4D97-AF65-F5344CB8AC3E}">
        <p14:creationId xmlns:p14="http://schemas.microsoft.com/office/powerpoint/2010/main" val="1751708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2018 - 19 Phase II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020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t>3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2018 - 19 Phase II</a:t>
            </a:r>
          </a:p>
        </p:txBody>
      </p:sp>
    </p:spTree>
    <p:extLst>
      <p:ext uri="{BB962C8B-B14F-4D97-AF65-F5344CB8AC3E}">
        <p14:creationId xmlns:p14="http://schemas.microsoft.com/office/powerpoint/2010/main" val="2736027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t>4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2018 - 19 Phase II</a:t>
            </a:r>
          </a:p>
        </p:txBody>
      </p:sp>
    </p:spTree>
    <p:extLst>
      <p:ext uri="{BB962C8B-B14F-4D97-AF65-F5344CB8AC3E}">
        <p14:creationId xmlns:p14="http://schemas.microsoft.com/office/powerpoint/2010/main" val="255005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1B3D4-90B9-1B1C-6559-7FB552AD1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3D0022-85DF-4634-C7AA-638A2269C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87220-3031-50DA-9FCA-A00AE61E1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4546F-8F58-5F58-DF49-3709C7C794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t>5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11B45B89-AD09-2523-91EF-9C967B3C965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2018 - 19 Phase II</a:t>
            </a:r>
          </a:p>
        </p:txBody>
      </p:sp>
    </p:spTree>
    <p:extLst>
      <p:ext uri="{BB962C8B-B14F-4D97-AF65-F5344CB8AC3E}">
        <p14:creationId xmlns:p14="http://schemas.microsoft.com/office/powerpoint/2010/main" val="1412042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t>6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2018 - 19 Phase II</a:t>
            </a:r>
          </a:p>
        </p:txBody>
      </p:sp>
    </p:spTree>
    <p:extLst>
      <p:ext uri="{BB962C8B-B14F-4D97-AF65-F5344CB8AC3E}">
        <p14:creationId xmlns:p14="http://schemas.microsoft.com/office/powerpoint/2010/main" val="34233232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t>7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2018 - 19 Phase II</a:t>
            </a:r>
          </a:p>
        </p:txBody>
      </p:sp>
    </p:spTree>
    <p:extLst>
      <p:ext uri="{BB962C8B-B14F-4D97-AF65-F5344CB8AC3E}">
        <p14:creationId xmlns:p14="http://schemas.microsoft.com/office/powerpoint/2010/main" val="38496006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9CFA9-CDFD-EDAE-EF5B-37A4DB200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2EE9FC-3E82-4564-8242-8E66E0EF9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75B9E2-CB75-B3CC-6581-A87E16598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182DF-D57D-3BA8-7FC5-852A7604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t>8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C5643A58-C323-C252-E09C-B0EB3216EE48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2018 - 19 Phase II</a:t>
            </a:r>
          </a:p>
        </p:txBody>
      </p:sp>
    </p:spTree>
    <p:extLst>
      <p:ext uri="{BB962C8B-B14F-4D97-AF65-F5344CB8AC3E}">
        <p14:creationId xmlns:p14="http://schemas.microsoft.com/office/powerpoint/2010/main" val="1734721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0C4D9-8F8F-3E03-E88C-CA23F31B1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D55CBD-D7AE-DEF7-46D9-ECCA3A24E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B3B57-7280-C529-0727-283AE94D6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2B268-B749-4C9F-1D0F-A8381AE2CB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t>9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42EC5C44-96DB-650A-0145-6DE6333588B6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2018 - 19 Phase II</a:t>
            </a:r>
          </a:p>
        </p:txBody>
      </p:sp>
    </p:spTree>
    <p:extLst>
      <p:ext uri="{BB962C8B-B14F-4D97-AF65-F5344CB8AC3E}">
        <p14:creationId xmlns:p14="http://schemas.microsoft.com/office/powerpoint/2010/main" val="786537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9D340-00E1-1570-7352-FC16ABA09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0623E-C5D4-207D-9C89-F788A6F1A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669CAC-780A-E92E-D63A-30A5A00F7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F4B09-8C8E-5D8D-F032-2956D97B2F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t>10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93B17515-3D92-7A58-1A90-BB067B33C46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2018 - 19 Phase II</a:t>
            </a:r>
          </a:p>
        </p:txBody>
      </p:sp>
    </p:spTree>
    <p:extLst>
      <p:ext uri="{BB962C8B-B14F-4D97-AF65-F5344CB8AC3E}">
        <p14:creationId xmlns:p14="http://schemas.microsoft.com/office/powerpoint/2010/main" val="25919039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30265-B322-E5F4-A77D-9717C4075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23D8E-B2F6-E3A8-1821-14C4FB89A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D5883-782E-3888-D79D-4D4E37B99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97B0C-BFFC-3D63-FE85-52279DF87C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t>11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47B2AA8A-5AF6-4B2C-4406-0EE34BADFA6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2018 - 19 Phase II</a:t>
            </a:r>
          </a:p>
        </p:txBody>
      </p:sp>
    </p:spTree>
    <p:extLst>
      <p:ext uri="{BB962C8B-B14F-4D97-AF65-F5344CB8AC3E}">
        <p14:creationId xmlns:p14="http://schemas.microsoft.com/office/powerpoint/2010/main" val="35187334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540A3-2AF5-06E1-4013-4E281BB78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AE730-2755-1B07-EA1E-DF6E72FC4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9D6BD-774F-28CC-D67D-1D233D3BC4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C2B98-3CAC-6C0A-21D9-8C438A4D9E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t>12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E5710056-23DA-C0EC-5470-0EF6F2C25E16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2018 - 19 Phase II</a:t>
            </a:r>
          </a:p>
        </p:txBody>
      </p:sp>
    </p:spTree>
    <p:extLst>
      <p:ext uri="{BB962C8B-B14F-4D97-AF65-F5344CB8AC3E}">
        <p14:creationId xmlns:p14="http://schemas.microsoft.com/office/powerpoint/2010/main" val="16292687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889E9-1137-1412-C858-9C76A188D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7B5478-9A15-A278-637E-334D0A2C2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7C7B03-5274-28BF-D5F4-D94BF6903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8B5B8E-9B22-5359-193D-C1DF8BD584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t>13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082C1D4F-9F87-0037-11B3-AF3BE46D50B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2018 - 19 Phase II</a:t>
            </a:r>
          </a:p>
        </p:txBody>
      </p:sp>
    </p:spTree>
    <p:extLst>
      <p:ext uri="{BB962C8B-B14F-4D97-AF65-F5344CB8AC3E}">
        <p14:creationId xmlns:p14="http://schemas.microsoft.com/office/powerpoint/2010/main" val="41315249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AFC6-5CF8-B79F-6C40-E25EC3849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75D9B6-810E-5D99-07E7-DC466CDBD2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304F49-2755-BBE3-EEDF-A934778EE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B074E-95C6-B799-67D2-BBF626A9C4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t>14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FA36F552-ADC9-8B7C-A235-1A1A681989F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2018 - 19 Phase II</a:t>
            </a:r>
          </a:p>
        </p:txBody>
      </p:sp>
    </p:spTree>
    <p:extLst>
      <p:ext uri="{BB962C8B-B14F-4D97-AF65-F5344CB8AC3E}">
        <p14:creationId xmlns:p14="http://schemas.microsoft.com/office/powerpoint/2010/main" val="22711673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t>15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2018 - 19 Phase II</a:t>
            </a:r>
          </a:p>
        </p:txBody>
      </p:sp>
    </p:spTree>
    <p:extLst>
      <p:ext uri="{BB962C8B-B14F-4D97-AF65-F5344CB8AC3E}">
        <p14:creationId xmlns:p14="http://schemas.microsoft.com/office/powerpoint/2010/main" val="3052149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t>16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2018 - 19 Phase II</a:t>
            </a:r>
          </a:p>
        </p:txBody>
      </p:sp>
    </p:spTree>
    <p:extLst>
      <p:ext uri="{BB962C8B-B14F-4D97-AF65-F5344CB8AC3E}">
        <p14:creationId xmlns:p14="http://schemas.microsoft.com/office/powerpoint/2010/main" val="377709588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EB09E-62B8-4931-A740-BCE383B263AD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>
                <a:solidFill>
                  <a:schemeClr val="tx2"/>
                </a:solidFill>
              </a:rPr>
              <a:t>Department of CSE, Vemana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958E-392C-45A5-8B7C-6FFEC23D40D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sz="1400" dirty="0">
                <a:solidFill>
                  <a:schemeClr val="tx2"/>
                </a:solidFill>
              </a:rPr>
              <a:t>Department of CSE, Vemana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ctr"/>
            <a:fld id="{ECBC0750-C1CD-4D8E-ADE1-93E3A0AC8329}" type="slidenum">
              <a:rPr lang="en-US" sz="1400" b="1" smtClean="0">
                <a:solidFill>
                  <a:srgbClr val="FFFFFF"/>
                </a:solidFill>
              </a:rPr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F229E-9CC9-445C-B402-B93B63F9A471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CSE, Vemana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12418-A1E9-40C6-9BFD-22F174C7C75A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CSE, Vemana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3B659-6005-4324-A283-1E4ADF604BA5}" type="datetime1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CSE, Vemana 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26AC-5549-4798-B196-7FC3403A62EA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CSE, Vemana 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B857-E226-4E94-98F0-FF856D010F57}" type="datetime1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CSE, Vemana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2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65FB-884B-42DB-93BA-92C1B703D307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CSE, Vemana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7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C7979-20C0-4E52-BDB0-0EB42B253591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CSE, Vemana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t>‹#›</a:t>
            </a:fld>
            <a:endParaRPr lang="en-US" sz="28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7EEDB-C7E5-487B-BD7B-D545B5AB831F}" type="datetime1">
              <a:rPr lang="en-US" sz="1400" smtClean="0">
                <a:solidFill>
                  <a:schemeClr val="tx2"/>
                </a:solidFill>
              </a:rPr>
              <a:t>7/27/2026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sz="1400" dirty="0">
                <a:solidFill>
                  <a:schemeClr val="tx2"/>
                </a:solidFill>
              </a:rPr>
              <a:t>Department of CSE, Vemana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3364-9DED-42B6-9382-A06B25C2C1EE}" type="datetime1">
              <a:rPr lang="en-US" sz="1400" smtClean="0">
                <a:solidFill>
                  <a:schemeClr val="tx2"/>
                </a:solidFill>
              </a:rPr>
              <a:t>7/27/2026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sz="1400" dirty="0">
                <a:solidFill>
                  <a:schemeClr val="tx2"/>
                </a:solidFill>
              </a:rPr>
              <a:t>Department of CSE, Vemana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54497-932D-41FA-9B42-24346FA37FED}" type="datetime1">
              <a:rPr lang="en-US" sz="1400" smtClean="0">
                <a:solidFill>
                  <a:schemeClr val="tx2"/>
                </a:solidFill>
              </a:rPr>
              <a:t>7/27/2026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 sz="1400" dirty="0">
                <a:solidFill>
                  <a:schemeClr val="tx2"/>
                </a:solidFill>
              </a:rPr>
              <a:t>Department of CSE, Vemana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/>
          </p:cNvSpPr>
          <p:nvPr>
            <p:ph type="ctrTitle"/>
          </p:nvPr>
        </p:nvSpPr>
        <p:spPr>
          <a:xfrm>
            <a:off x="711288" y="1138943"/>
            <a:ext cx="7772400" cy="712639"/>
          </a:xfrm>
        </p:spPr>
        <p:txBody>
          <a:bodyPr>
            <a:noAutofit/>
          </a:bodyPr>
          <a:lstStyle/>
          <a:p>
            <a:br>
              <a:rPr lang="en-IN" sz="3200" b="1" dirty="0">
                <a:solidFill>
                  <a:srgbClr val="0070C0"/>
                </a:solidFill>
              </a:rPr>
            </a:br>
            <a:br>
              <a:rPr lang="en-IN" sz="3200" b="1" dirty="0">
                <a:solidFill>
                  <a:srgbClr val="0070C0"/>
                </a:solidFill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BCS786 Major Project Phase-II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3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7" name="Rectangle 4"/>
          <p:cNvSpPr txBox="1"/>
          <p:nvPr/>
        </p:nvSpPr>
        <p:spPr>
          <a:xfrm>
            <a:off x="228599" y="3139690"/>
            <a:ext cx="8737779" cy="190141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ct val="200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- USN</a:t>
            </a:r>
          </a:p>
          <a:p>
            <a:pPr lvl="0">
              <a:spcBef>
                <a:spcPct val="200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- USN</a:t>
            </a:r>
          </a:p>
          <a:p>
            <a:pPr lvl="0">
              <a:spcBef>
                <a:spcPct val="20000"/>
              </a:spcBef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4"/>
          <p:cNvSpPr txBox="1"/>
          <p:nvPr/>
        </p:nvSpPr>
        <p:spPr>
          <a:xfrm>
            <a:off x="5257800" y="3562350"/>
            <a:ext cx="3429000" cy="106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  <a:endParaRPr lang="en-US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Guide Name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Designation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88" y="2566190"/>
            <a:ext cx="9144000" cy="5232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No.- PROJECT 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0DA883-2C95-8EAA-0F39-523C827F89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88" y="224360"/>
            <a:ext cx="7594512" cy="12043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3B1AF-4827-48F8-89C1-04B58CDA0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9958"/>
            <a:ext cx="8229600" cy="681474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BIRD VIEW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92DB6-6DA7-483C-9605-E091ACCD8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42950"/>
            <a:ext cx="8229600" cy="3962400"/>
          </a:xfrm>
        </p:spPr>
        <p:txBody>
          <a:bodyPr>
            <a:no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the survey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 (Hardware &amp; Software Requirements)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(System Architecture &amp; Dataflow Diagram)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 (System Architecture, Data flow diagram, Sequence diagram, Use case diagram)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Progress (Partial code, code snippets of the UI/Backend developed so far)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7C7DE-82B0-4BFD-ADB2-512C0711F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3918D-EF15-46E0-A6E8-96CFE8A48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sz="1400" dirty="0">
                <a:solidFill>
                  <a:schemeClr val="tx2"/>
                </a:solidFill>
              </a:rPr>
              <a:t>Department of CSE, Vemana IT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F12BD91-D499-484D-AE27-5A29FE3A87B1}"/>
              </a:ext>
            </a:extLst>
          </p:cNvPr>
          <p:cNvSpPr txBox="1"/>
          <p:nvPr/>
        </p:nvSpPr>
        <p:spPr>
          <a:xfrm>
            <a:off x="8610600" y="4770399"/>
            <a:ext cx="287438" cy="270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EAEFA59-ADD5-483B-81EC-7CBC47C157AE}"/>
              </a:ext>
            </a:extLst>
          </p:cNvPr>
          <p:cNvSpPr txBox="1"/>
          <p:nvPr/>
        </p:nvSpPr>
        <p:spPr>
          <a:xfrm>
            <a:off x="457200" y="205978"/>
            <a:ext cx="2819400" cy="2012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TITLE</a:t>
            </a:r>
          </a:p>
        </p:txBody>
      </p:sp>
      <p:sp>
        <p:nvSpPr>
          <p:cNvPr id="11" name="Date Placeholder 3"/>
          <p:cNvSpPr txBox="1"/>
          <p:nvPr/>
        </p:nvSpPr>
        <p:spPr>
          <a:xfrm>
            <a:off x="8115300" y="109702"/>
            <a:ext cx="990600" cy="3499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2025 - 26 </a:t>
            </a:r>
          </a:p>
        </p:txBody>
      </p:sp>
    </p:spTree>
    <p:extLst>
      <p:ext uri="{BB962C8B-B14F-4D97-AF65-F5344CB8AC3E}">
        <p14:creationId xmlns:p14="http://schemas.microsoft.com/office/powerpoint/2010/main" val="3924860172"/>
      </p:ext>
    </p:extLst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Content Placeholder 2"/>
          <ns0:cNvSpPr>
            <ns1:spLocks noGrp="1"/>
          </ns0:cNvSpPr>
          <ns0:nvPr>
            <ns0:ph idx="1"/>
          </ns0:nvPr>
        </ns0:nvSpPr>
        <ns0:spPr>
          <ns1:xfrm>
            <ns1:off x="457200" y="1063229"/>
            <ns1:ext cx="8229600" cy="3289732"/>
          </ns1:xfrm>
        </ns0:spPr>
        <ns0:txBody>
          <ns1:bodyPr wrap="square">
            <ns1:normAutofit/>
          </ns1:bodyPr>
          <ns1:lstStyle/>
          <ns1:p>
            <ns1:pPr marL="285750" indent="-285750" algn="just">
              <ns1:spcBef>
                <ns1:spcPts val="140"/>
              </ns1:spcBef>
              <ns1:spcAft>
                <ns1:spcPts val="80"/>
              </ns1:spcAft>
              <ns1:buChar char="•"/>
            </ns1:pPr>
            <ns1:r>
              <ns1:rPr lang="en-US" sz="1250" b="1" dirty="0">
                <ns1:solidFill>
                  <ns1:srgbClr val="000000"/>
                </ns1:solidFill>
                <ns1:latin typeface="Calibri"/>
                <ns1:cs typeface="Calibri"/>
              </ns1:rPr>
              <ns1:t>Autonomous Smart Campus Ecosystem: </ns1:t>
            </ns1:r>
            <ns1:r>
              <ns1:rPr lang="en-US" sz="1250" b="0" dirty="0">
                <ns1:solidFill>
                  <ns1:srgbClr val="000000"/>
                </ns1:solidFill>
                <ns1:latin typeface="Calibri"/>
                <ns1:cs typeface="Calibri"/>
              </ns1:rPr>
              <ns1:t>SmartCampus AI is an enterprise-grade, privacy-centric campus automation platform designed to automate multi-student classroom attendance, academic scheduling, and operations using standard 1080p CCTV infrastructure.</ns1:t>
            </ns1:r>
          </ns1:p>
          <ns1:p>
            <ns1:pPr marL="285750" indent="-285750" algn="just">
              <ns1:spcBef>
                <ns1:spcPts val="140"/>
              </ns1:spcBef>
              <ns1:spcAft>
                <ns1:spcPts val="80"/>
              </ns1:spcAft>
              <ns1:buChar char="•"/>
            </ns1:pPr>
            <ns1:r>
              <ns1:rPr lang="en-US" sz="1250" b="1" dirty="0">
                <ns1:solidFill>
                  <ns1:srgbClr val="000000"/>
                </ns1:solidFill>
                <ns1:latin typeface="Calibri"/>
                <ns1:cs typeface="Calibri"/>
              </ns1:rPr>
              <ns1:t>Deep-Learning Computer Vision Pipeline: </ns1:t>
            </ns1:r>
            <ns1:r>
              <ns1:rPr lang="en-US" sz="1250" b="0" dirty="0">
                <ns1:solidFill>
                  <ns1:srgbClr val="000000"/>
                </ns1:solidFill>
                <ns1:latin typeface="Calibri"/>
                <ns1:cs typeface="Calibri"/>
              </ns1:rPr>
              <ns1:t>Integrates a multi-stage vision pipeline featuring SCRFD 10G face detection with adaptive multi-scale ROI upscaling (for distant back-row faces), temporal IoU tracking, MediaPipe quality filtering, and 512-D ArcFace embeddings.</ns1:t>
            </ns1:r>
          </ns1:p>
          <ns1:p>
            <ns1:pPr marL="285750" indent="-285750" algn="just">
              <ns1:spcBef>
                <ns1:spcPts val="140"/>
              </ns1:spcBef>
              <ns1:spcAft>
                <ns1:spcPts val="80"/>
              </ns1:spcAft>
              <ns1:buChar char="•"/>
            </ns1:pPr>
            <ns1:r>
              <ns1:rPr lang="en-US" sz="1250" b="1" dirty="0">
                <ns1:solidFill>
                  <ns1:srgbClr val="000000"/>
                </ns1:solidFill>
                <ns1:latin typeface="Calibri"/>
                <ns1:cs typeface="Calibri"/>
              </ns1:rPr>
              <ns1:t>Zero-Friction Unsupervised Enrollment: </ns1:t>
            </ns1:r>
            <ns1:r>
              <ns1:rPr lang="en-US" sz="1250" b="0" dirty="0">
                <ns1:solidFill>
                  <ns1:srgbClr val="000000"/>
                </ns1:solidFill>
                <ns1:latin typeface="Calibri"/>
                <ns1:cs typeface="Calibri"/>
              </ns1:rPr>
              <ns1:t>Replaces tedious manual photo registration with automated HDBSCAN track-level clustering and multi-evidence consolidation, discovering and enrolling student facial profiles directly from video sessions.</ns1:t>
            </ns1:r>
          </ns1:p>
          <ns1:p>
            <ns1:pPr marL="285750" indent="-285750" algn="just">
              <ns1:spcBef>
                <ns1:spcPts val="140"/>
              </ns1:spcBef>
              <ns1:spcAft>
                <ns1:spcPts val="80"/>
              </ns1:spcAft>
              <ns1:buChar char="•"/>
            </ns1:pPr>
            <ns1:r>
              <ns1:rPr lang="en-US" sz="1250" b="1" dirty="0">
                <ns1:solidFill>
                  <ns1:srgbClr val="000000"/>
                </ns1:solidFill>
                <ns1:latin typeface="Calibri"/>
                <ns1:cs typeface="Calibri"/>
              </ns1:rPr>
              <ns1:t>Sub-Millisecond Vector Search &amp; Indexing: </ns1:t>
            </ns1:r>
            <ns1:r>
              <ns1:rPr lang="en-US" sz="1250" b="0" dirty="0">
                <ns1:solidFill>
                  <ns1:srgbClr val="000000"/>
                </ns1:solidFill>
                <ns1:latin typeface="Calibri"/>
                <ns1:cs typeface="Calibri"/>
              </ns1:rPr>
              <ns1:t>Employs an on-premise FAISS (Facebook AI Similarity Search) cosine vector index for real-time biometric verification and proxy prevention with zero cloud reliance.</ns1:t>
            </ns1:r>
          </ns1:p>
          <ns1:p>
            <ns1:pPr marL="285750" indent="-285750" algn="just">
              <ns1:spcBef>
                <ns1:spcPts val="140"/>
              </ns1:spcBef>
              <ns1:spcAft>
                <ns1:spcPts val="80"/>
              </ns1:spcAft>
              <ns1:buChar char="•"/>
            </ns1:pPr>
            <ns1:r>
              <ns1:rPr lang="en-US" sz="1250" b="1" dirty="0">
                <ns1:solidFill>
                  <ns1:srgbClr val="000000"/>
                </ns1:solidFill>
                <ns1:latin typeface="Calibri"/>
                <ns1:cs typeface="Calibri"/>
              </ns1:rPr>
              <ns1:t>Decoupled Monorepo Architecture: </ns1:t>
            </ns1:r>
            <ns1:r>
              <ns1:rPr lang="en-US" sz="1250" b="0" dirty="0">
                <ns1:solidFill>
                  <ns1:srgbClr val="000000"/>
                </ns1:solidFill>
                <ns1:latin typeface="Calibri"/>
                <ns1:cs typeface="Calibri"/>
              </ns1:rPr>
              <ns1:t>Engineered with a Next.js 16 (React 19) web dashboard, NestJS 10 REST/WebSocket API gateway, FastAPI Python AI service, PostgreSQL database (Prisma ORM), Redis session caching, and MinIO storage.</ns1:t>
            </ns1:r>
          </ns1:p>
        </ns0:txBody>
      </ns0:sp>
      <ns0:sp>
        <ns0:nvSpPr>
          <ns0:cNvPr id="6" name="Footer Placeholder 4"/>
          <ns0:cNvSpPr txBox="1"/>
          <ns0:nvPr/>
        </ns0:nvSpPr>
        <ns0:spPr>
          <ns1:xfrm>
            <ns1:off x="8610600" y="4770399"/>
            <ns1:ext cx="287438" cy="270709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marL="0" algn="ctr" rtl="0" latinLnBrk="0">
              <ns1:defRPr sz="1200" kern="1200">
                <ns1:solidFill>
                  <ns1:schemeClr val="tx1">
                    <ns1:tint val="75000"/>
                  </ns1:schemeClr>
                </ns1:solidFill>
                <ns1:latin typeface="+mn-lt"/>
                <ns1:ea typeface="+mn-ea"/>
                <ns1:cs typeface="+mn-cs"/>
              </ns1:defRPr>
            </ns1:lvl1pPr>
            <ns1:lvl2pPr marL="4572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2pPr>
            <ns1:lvl3pPr marL="9144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3pPr>
            <ns1:lvl4pPr marL="13716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4pPr>
            <ns1:lvl5pPr marL="18288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5pPr>
            <ns1:lvl6pPr marL="22860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6pPr>
            <ns1:lvl7pPr marL="27432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7pPr>
            <ns1:lvl8pPr marL="32004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8pPr>
            <ns1:lvl9pPr marL="36576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r"/>
            <ns1:r>
              <ns1:rPr lang="en-US" sz="1400" dirty="0">
                <ns1:solidFill>
                  <ns1:schemeClr val="tx2"/>
                </ns1:solidFill>
              </ns1:rPr>
              <ns1:t>2</ns1:t>
            </ns1:r>
          </ns1:p>
        </ns0:txBody>
      </ns0:sp>
      <ns0:sp>
        <ns0:nvSpPr>
          <ns0:cNvPr id="9" name="Date Placeholder 3"/>
          <ns0:cNvSpPr txBox="1"/>
          <ns0:nvPr/>
        </ns0:nvSpPr>
        <ns0:spPr>
          <ns1:xfrm>
            <ns1:off x="8077200" y="57260"/>
            <ns1:ext cx="990600" cy="349934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marL="0" algn="l" rtl="0" latinLnBrk="0">
              <ns1:defRPr sz="1200" kern="1200">
                <ns1:solidFill>
                  <ns1:schemeClr val="tx1">
                    <ns1:tint val="75000"/>
                  </ns1:schemeClr>
                </ns1:solidFill>
                <ns1:latin typeface="+mn-lt"/>
                <ns1:ea typeface="+mn-ea"/>
                <ns1:cs typeface="+mn-cs"/>
              </ns1:defRPr>
            </ns1:lvl1pPr>
            <ns1:lvl2pPr marL="4572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2pPr>
            <ns1:lvl3pPr marL="9144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3pPr>
            <ns1:lvl4pPr marL="13716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4pPr>
            <ns1:lvl5pPr marL="18288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5pPr>
            <ns1:lvl6pPr marL="22860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6pPr>
            <ns1:lvl7pPr marL="27432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7pPr>
            <ns1:lvl8pPr marL="32004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8pPr>
            <ns1:lvl9pPr marL="36576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en-US" dirty="0"/>
              <ns1:t>2025 - 26 </ns1:t>
            </ns1:r>
          </ns1:p>
        </ns0:txBody>
      </ns0:sp>
      <ns0:sp>
        <ns0:nvSpPr>
          <ns0:cNvPr id="11" name="Title 1">
            <ns1:extLst>
              <ns1:ext uri="{FF2B5EF4-FFF2-40B4-BE49-F238E27FC236}">
                <ns2:creationId id="{DC85129E-0B0B-4C64-B8AF-D549982166EC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457200" y="205978"/>
            <ns1:ext cx="8229600" cy="857250"/>
          </ns1:xfrm>
        </ns0:spPr>
        <ns0:txBody>
          <ns1:bodyPr>
            <ns1:normAutofit/>
          </ns1:bodyPr>
          <ns1:lstStyle/>
          <ns1:p>
            <ns1:r>
              <ns1:rPr lang="en-US" sz="4000" dirty="0">
                <ns1:ln w="0"/>
                <ns1:solidFill>
                  <ns1:schemeClr val="accent1"/>
                </ns1:solidFill>
                <ns1:effectLst>
                  <ns1:outerShdw blurRad="38100" dist="25400" dir="5400000" algn="ctr" rotWithShape="0">
                    <ns1:srgbClr val="6E747A">
                      <ns1:alpha val="43000"/>
                    </ns1:srgbClr>
                  </ns1:outerShdw>
                </ns1:effectLst>
                <ns1:latin typeface="Times New Roman" panose="02020603050405020304" pitchFamily="18" charset="0"/>
                <ns1:cs typeface="Times New Roman" panose="02020603050405020304" pitchFamily="18" charset="0"/>
              </ns1:rPr>
              <ns1:t>INTRODUCTION</ns1:t>
            </ns1:r>
          </ns1:p>
        </ns0:txBody>
      </ns0:sp>
      <ns0:sp>
        <ns0:nvSpPr>
          <ns0:cNvPr id="13" name="Footer Placeholder 4">
            <ns1:extLst>
              <ns1:ext uri="{FF2B5EF4-FFF2-40B4-BE49-F238E27FC236}">
                <ns2:creationId id="{D1ABF561-8E91-4704-BDD7-0520E3848081}"/>
              </ns1:ext>
            </ns1:extLst>
          </ns0:cNvPr>
          <ns0:cNvSpPr>
            <ns1:spLocks noGrp="1"/>
          </ns0:cNvSpPr>
          <ns0:nvPr>
            <ns0:ph type="ftr" sz="quarter" idx="11"/>
          </ns0:nvPr>
        </ns0:nvSpPr>
        <ns0:spPr>
          <ns1:xfrm>
            <ns1:off x="3124200" y="4767264"/>
            <ns1:ext cx="2895600" cy="273844"/>
          </ns1:xfrm>
        </ns0:spPr>
        <ns0:txBody>
          <ns1:bodyPr/>
          <ns1:lstStyle/>
          <ns1:p>
            <ns1:pPr algn="r"/>
            <ns1:r>
              <ns1:rPr lang="en-US" sz="1400" dirty="0">
                <ns1:solidFill>
                  <ns1:schemeClr val="tx2"/>
                </ns1:solidFill>
              </ns1:rPr>
              <ns1:t>Department of CSE, Vemana IT</ns1:t>
            </ns1:r>
          </ns1:p>
        </ns0:txBody>
      </ns0:sp>
      <ns0:sp>
        <ns0:nvSpPr>
          <ns0:cNvPr id="10" name="Date Placeholder 3">
            <ns1:extLst>
              <ns1:ext uri="{FF2B5EF4-FFF2-40B4-BE49-F238E27FC236}">
                <ns2:creationId id="{E6885163-434D-45CD-97C7-0ED98D1517AC}"/>
              </ns1:ext>
            </ns1:extLst>
          </ns0:cNvPr>
          <ns0:cNvSpPr txBox="1"/>
          <ns0:nvPr/>
        </ns0:nvSpPr>
        <ns0:spPr>
          <ns1:xfrm>
            <ns1:off x="457200" y="205978"/>
            <ns1:ext cx="2819400" cy="201216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marL="0" algn="l" rtl="0" latinLnBrk="0">
              <ns1:defRPr sz="1200" kern="1200">
                <ns1:solidFill>
                  <ns1:schemeClr val="tx1">
                    <ns1:tint val="75000"/>
                  </ns1:schemeClr>
                </ns1:solidFill>
                <ns1:latin typeface="+mn-lt"/>
                <ns1:ea typeface="+mn-ea"/>
                <ns1:cs typeface="+mn-cs"/>
              </ns1:defRPr>
            </ns1:lvl1pPr>
            <ns1:lvl2pPr marL="4572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2pPr>
            <ns1:lvl3pPr marL="9144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3pPr>
            <ns1:lvl4pPr marL="13716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4pPr>
            <ns1:lvl5pPr marL="18288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5pPr>
            <ns1:lvl6pPr marL="22860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6pPr>
            <ns1:lvl7pPr marL="27432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7pPr>
            <ns1:lvl8pPr marL="32004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8pPr>
            <ns1:lvl9pPr marL="36576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en-US" dirty="0"/>
              <ns1:t>PROJECT TITLE</ns1:t>
            </ns1:r>
          </ns1:p>
        </ns0:txBody>
      </ns0:sp>
      <ns0:sp>
        <ns0:nvSpPr>
          <ns0:cNvPr id="15" name="Date Placeholder 3">
            <ns1:extLst>
              <ns1:ext uri="{FF2B5EF4-FFF2-40B4-BE49-F238E27FC236}">
                <ns2:creationId id="{D257C7DE-82B0-4BFD-ADB2-512C0711F065}"/>
              </ns1:ext>
            </ns1:extLst>
          </ns0:cNvPr>
          <ns0:cNvSpPr>
            <ns1:spLocks noGrp="1"/>
          </ns0:cNvSpPr>
          <ns0:nvPr>
            <ns0:ph type="dt" sz="half" idx="10"/>
          </ns0:nvPr>
        </ns0:nvSpPr>
        <ns0:spPr>
          <ns1:xfrm>
            <ns1:off x="457200" y="4767264"/>
            <ns1:ext cx="2133600" cy="273844"/>
          </ns1:xfrm>
        </ns0:spPr>
        <ns0:txBody>
          <ns1:bodyPr/>
          <ns1:lstStyle/>
          <ns1:p>
            <ns1:r>
              <ns1:rPr lang="en-US" dirty="0"/>
              <ns1:t>Date</ns1:t>
            </ns1:r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Content Placeholder 2"/>
          <ns0:cNvSpPr>
            <ns1:spLocks noGrp="1"/>
          </ns0:cNvSpPr>
          <ns0:nvPr>
            <ns0:ph idx="1"/>
          </ns0:nvPr>
        </ns0:nvSpPr>
        <ns0:spPr>
          <ns1:xfrm>
            <ns1:off x="457200" y="1063229"/>
            <ns1:ext cx="8229600" cy="3289732"/>
          </ns1:xfrm>
        </ns0:spPr>
        <ns0:txBody>
          <ns1:bodyPr wrap="square">
            <ns1:normAutofit/>
          </ns1:bodyPr>
          <ns1:lstStyle/>
          <ns1:p>
            <ns1:pPr marL="285750" indent="-285750" algn="just">
              <ns1:spcBef>
                <ns1:spcPts val="140"/>
              </ns1:spcBef>
              <ns1:spcAft>
                <ns1:spcPts val="80"/>
              </ns1:spcAft>
              <ns1:buChar char="•"/>
            </ns1:pPr>
            <ns1:r>
              <ns1:rPr lang="en-US" sz="1250" b="1" dirty="0">
                <ns1:solidFill>
                  <ns1:srgbClr val="000000"/>
                </ns1:solidFill>
                <ns1:latin typeface="Calibri"/>
                <ns1:cs typeface="Calibri"/>
              </ns1:rPr>
              <ns1:t>Eliminating Instructional Lecture Time Loss: </ns1:t>
            </ns1:r>
            <ns1:r>
              <ns1:rPr lang="en-US" sz="1250" b="0" dirty="0">
                <ns1:solidFill>
                  <ns1:srgbClr val="000000"/>
                </ns1:solidFill>
                <ns1:latin typeface="Calibri"/>
                <ns1:cs typeface="Calibri"/>
              </ns1:rPr>
              <ns1:t>Traditional manual roll calls consume 10–15% (5–10 minutes) of every lecture, resulting in hundreds of wasted teaching hours across semesters.</ns1:t>
            </ns1:r>
          </ns1:p>
          <ns1:p>
            <ns1:pPr marL="285750" indent="-285750" algn="just">
              <ns1:spcBef>
                <ns1:spcPts val="140"/>
              </ns1:spcBef>
              <ns1:spcAft>
                <ns1:spcPts val="80"/>
              </ns1:spcAft>
              <ns1:buChar char="•"/>
            </ns1:pPr>
            <ns1:r>
              <ns1:rPr lang="en-US" sz="1250" b="1" dirty="0">
                <ns1:solidFill>
                  <ns1:srgbClr val="000000"/>
                </ns1:solidFill>
                <ns1:latin typeface="Calibri"/>
                <ns1:cs typeface="Calibri"/>
              </ns1:rPr>
              <ns1:t>Preventing Proxy Attendance &amp; Record Manipulation: </ns1:t>
            </ns1:r>
            <ns1:r>
              <ns1:rPr lang="en-US" sz="1250" b="0" dirty="0">
                <ns1:solidFill>
                  <ns1:srgbClr val="000000"/>
                </ns1:solidFill>
                <ns1:latin typeface="Calibri"/>
                <ns1:cs typeface="Calibri"/>
              </ns1:rPr>
              <ns1:t>Conventional paper registers, sign-in sheets, and RFID card swipes suffer from widespread proxy marking ("buddy punching") and human logging errors.</ns1:t>
            </ns1:r>
          </ns1:p>
          <ns1:p>
            <ns1:pPr marL="285750" indent="-285750" algn="just">
              <ns1:spcBef>
                <ns1:spcPts val="140"/>
              </ns1:spcBef>
              <ns1:spcAft>
                <ns1:spcPts val="80"/>
              </ns1:spcAft>
              <ns1:buChar char="•"/>
            </ns1:pPr>
            <ns1:r>
              <ns1:rPr lang="en-US" sz="1250" b="1" dirty="0">
                <ns1:solidFill>
                  <ns1:srgbClr val="000000"/>
                </ns1:solidFill>
                <ns1:latin typeface="Calibri"/>
                <ns1:cs typeface="Calibri"/>
              </ns1:rPr>
              <ns1:t>Resolving Inequitable Back-Row Face Recognition: </ns1:t>
            </ns1:r>
            <ns1:r>
              <ns1:rPr lang="en-US" sz="1250" b="0" dirty="0">
                <ns1:solidFill>
                  <ns1:srgbClr val="000000"/>
                </ns1:solidFill>
                <ns1:latin typeface="Calibri"/>
                <ns1:cs typeface="Calibri"/>
              </ns1:rPr>
              <ns1:t>Standard face recognition algorithms fail on back-row students due to extreme distance, low resolution (20–35 px), perspective shrinkage, and occlusions.</ns1:t>
            </ns1:r>
          </ns1:p>
          <ns1:p>
            <ns1:pPr marL="285750" indent="-285750" algn="just">
              <ns1:spcBef>
                <ns1:spcPts val="140"/>
              </ns1:spcBef>
              <ns1:spcAft>
                <ns1:spcPts val="80"/>
              </ns1:spcAft>
              <ns1:buChar char="•"/>
            </ns1:pPr>
            <ns1:r>
              <ns1:rPr lang="en-US" sz="1250" b="1" dirty="0">
                <ns1:solidFill>
                  <ns1:srgbClr val="000000"/>
                </ns1:solidFill>
                <ns1:latin typeface="Calibri"/>
                <ns1:cs typeface="Calibri"/>
              </ns1:rPr>
              <ns1:t>Overcoming High Administrative Enrollment Overhead: </ns1:t>
            </ns1:r>
            <ns1:r>
              <ns1:rPr lang="en-US" sz="1250" b="0" dirty="0">
                <ns1:solidFill>
                  <ns1:srgbClr val="000000"/>
                </ns1:solidFill>
                <ns1:latin typeface="Calibri"/>
                <ns1:cs typeface="Calibri"/>
              </ns1:rPr>
              <ns1:t>Manually collecting and uploading biometric headshots for thousands of students is tedious and unscalable; automated video clustering streamlines onboarding.</ns1:t>
            </ns1:r>
          </ns1:p>
          <ns1:p>
            <ns1:pPr marL="285750" indent="-285750" algn="just">
              <ns1:spcBef>
                <ns1:spcPts val="140"/>
              </ns1:spcBef>
              <ns1:spcAft>
                <ns1:spcPts val="80"/>
              </ns1:spcAft>
              <ns1:buChar char="•"/>
            </ns1:pPr>
            <ns1:r>
              <ns1:rPr lang="en-US" sz="1250" b="1" dirty="0">
                <ns1:solidFill>
                  <ns1:srgbClr val="000000"/>
                </ns1:solidFill>
                <ns1:latin typeface="Calibri"/>
                <ns1:cs typeface="Calibri"/>
              </ns1:rPr>
              <ns1:t>Ensuring Strict Biometric Privacy &amp; Data Sovereignty: </ns1:t>
            </ns1:r>
            <ns1:r>
              <ns1:rPr lang="en-US" sz="1250" b="0" dirty="0">
                <ns1:solidFill>
                  <ns1:srgbClr val="000000"/>
                </ns1:solidFill>
                <ns1:latin typeface="Calibri"/>
                <ns1:cs typeface="Calibri"/>
              </ns1:rPr>
              <ns1:t>Third-party cloud vision APIs create severe data privacy vulnerabilities and recurring costs; an on-premise local vector architecture guarantees complete security.</ns1:t>
            </ns1:r>
          </ns1:p>
        </ns0:txBody>
      </ns0:sp>
      <ns0:sp>
        <ns0:nvSpPr>
          <ns0:cNvPr id="6" name="Footer Placeholder 4"/>
          <ns0:cNvSpPr txBox="1"/>
          <ns0:nvPr/>
        </ns0:nvSpPr>
        <ns0:spPr>
          <ns1:xfrm>
            <ns1:off x="8610600" y="4770399"/>
            <ns1:ext cx="287438" cy="270709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marL="0" algn="ctr" rtl="0" latinLnBrk="0">
              <ns1:defRPr sz="1200" kern="1200">
                <ns1:solidFill>
                  <ns1:schemeClr val="tx1">
                    <ns1:tint val="75000"/>
                  </ns1:schemeClr>
                </ns1:solidFill>
                <ns1:latin typeface="+mn-lt"/>
                <ns1:ea typeface="+mn-ea"/>
                <ns1:cs typeface="+mn-cs"/>
              </ns1:defRPr>
            </ns1:lvl1pPr>
            <ns1:lvl2pPr marL="4572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2pPr>
            <ns1:lvl3pPr marL="9144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3pPr>
            <ns1:lvl4pPr marL="13716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4pPr>
            <ns1:lvl5pPr marL="18288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5pPr>
            <ns1:lvl6pPr marL="22860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6pPr>
            <ns1:lvl7pPr marL="27432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7pPr>
            <ns1:lvl8pPr marL="32004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8pPr>
            <ns1:lvl9pPr marL="36576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r"/>
            <ns1:r>
              <ns1:rPr lang="en-US" sz="1400" dirty="0">
                <ns1:solidFill>
                  <ns1:schemeClr val="tx2"/>
                </ns1:solidFill>
              </ns1:rPr>
              <ns1:t>3</ns1:t>
            </ns1:r>
          </ns1:p>
        </ns0:txBody>
      </ns0:sp>
      <ns0:sp>
        <ns0:nvSpPr>
          <ns0:cNvPr id="9" name="Date Placeholder 3"/>
          <ns0:cNvSpPr txBox="1"/>
          <ns0:nvPr/>
        </ns0:nvSpPr>
        <ns0:spPr>
          <ns1:xfrm>
            <ns1:off x="8077200" y="57260"/>
            <ns1:ext cx="990600" cy="349934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marL="0" algn="l" rtl="0" latinLnBrk="0">
              <ns1:defRPr sz="1200" kern="1200">
                <ns1:solidFill>
                  <ns1:schemeClr val="tx1">
                    <ns1:tint val="75000"/>
                  </ns1:schemeClr>
                </ns1:solidFill>
                <ns1:latin typeface="+mn-lt"/>
                <ns1:ea typeface="+mn-ea"/>
                <ns1:cs typeface="+mn-cs"/>
              </ns1:defRPr>
            </ns1:lvl1pPr>
            <ns1:lvl2pPr marL="4572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2pPr>
            <ns1:lvl3pPr marL="9144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3pPr>
            <ns1:lvl4pPr marL="13716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4pPr>
            <ns1:lvl5pPr marL="18288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5pPr>
            <ns1:lvl6pPr marL="22860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6pPr>
            <ns1:lvl7pPr marL="27432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7pPr>
            <ns1:lvl8pPr marL="32004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8pPr>
            <ns1:lvl9pPr marL="36576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en-US" dirty="0"/>
              <ns1:t>2025 - 26 </ns1:t>
            </ns1:r>
          </ns1:p>
        </ns0:txBody>
      </ns0:sp>
      <ns0:sp>
        <ns0:nvSpPr>
          <ns0:cNvPr id="11" name="Title 1">
            <ns1:extLst>
              <ns1:ext uri="{FF2B5EF4-FFF2-40B4-BE49-F238E27FC236}">
                <ns2:creationId id="{DC85129E-0B0B-4C64-B8AF-D549982166EC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457200" y="205978"/>
            <ns1:ext cx="8229600" cy="857250"/>
          </ns1:xfrm>
        </ns0:spPr>
        <ns0:txBody>
          <ns1:bodyPr>
            <ns1:normAutofit/>
          </ns1:bodyPr>
          <ns1:lstStyle/>
          <ns1:p>
            <ns1:r>
              <ns1:rPr lang="en-US" sz="4000" dirty="0">
                <ns1:ln w="0"/>
                <ns1:solidFill>
                  <ns1:schemeClr val="accent1"/>
                </ns1:solidFill>
                <ns1:effectLst>
                  <ns1:outerShdw blurRad="38100" dist="25400" dir="5400000" algn="ctr" rotWithShape="0">
                    <ns1:srgbClr val="6E747A">
                      <ns1:alpha val="43000"/>
                    </ns1:srgbClr>
                  </ns1:outerShdw>
                </ns1:effectLst>
                <ns1:latin typeface="Times New Roman" panose="02020603050405020304" pitchFamily="18" charset="0"/>
                <ns1:cs typeface="Times New Roman" panose="02020603050405020304" pitchFamily="18" charset="0"/>
              </ns1:rPr>
              <ns1:t>MOTIVATION</ns1:t>
            </ns1:r>
          </ns1:p>
        </ns0:txBody>
      </ns0:sp>
      <ns0:sp>
        <ns0:nvSpPr>
          <ns0:cNvPr id="13" name="Footer Placeholder 4">
            <ns1:extLst>
              <ns1:ext uri="{FF2B5EF4-FFF2-40B4-BE49-F238E27FC236}">
                <ns2:creationId id="{D1ABF561-8E91-4704-BDD7-0520E3848081}"/>
              </ns1:ext>
            </ns1:extLst>
          </ns0:cNvPr>
          <ns0:cNvSpPr>
            <ns1:spLocks noGrp="1"/>
          </ns0:cNvSpPr>
          <ns0:nvPr>
            <ns0:ph type="ftr" sz="quarter" idx="11"/>
          </ns0:nvPr>
        </ns0:nvSpPr>
        <ns0:spPr>
          <ns1:xfrm>
            <ns1:off x="3124200" y="4767264"/>
            <ns1:ext cx="2895600" cy="273844"/>
          </ns1:xfrm>
        </ns0:spPr>
        <ns0:txBody>
          <ns1:bodyPr/>
          <ns1:lstStyle/>
          <ns1:p>
            <ns1:pPr algn="r"/>
            <ns1:r>
              <ns1:rPr lang="en-US" sz="1400" dirty="0">
                <ns1:solidFill>
                  <ns1:schemeClr val="tx2"/>
                </ns1:solidFill>
              </ns1:rPr>
              <ns1:t>Department of CSE, Vemana IT</ns1:t>
            </ns1:r>
          </ns1:p>
        </ns0:txBody>
      </ns0:sp>
      <ns0:sp>
        <ns0:nvSpPr>
          <ns0:cNvPr id="10" name="Date Placeholder 3">
            <ns1:extLst>
              <ns1:ext uri="{FF2B5EF4-FFF2-40B4-BE49-F238E27FC236}">
                <ns2:creationId id="{E6885163-434D-45CD-97C7-0ED98D1517AC}"/>
              </ns1:ext>
            </ns1:extLst>
          </ns0:cNvPr>
          <ns0:cNvSpPr txBox="1"/>
          <ns0:nvPr/>
        </ns0:nvSpPr>
        <ns0:spPr>
          <ns1:xfrm>
            <ns1:off x="457200" y="205978"/>
            <ns1:ext cx="2819400" cy="201216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marL="0" algn="l" rtl="0" latinLnBrk="0">
              <ns1:defRPr sz="1200" kern="1200">
                <ns1:solidFill>
                  <ns1:schemeClr val="tx1">
                    <ns1:tint val="75000"/>
                  </ns1:schemeClr>
                </ns1:solidFill>
                <ns1:latin typeface="+mn-lt"/>
                <ns1:ea typeface="+mn-ea"/>
                <ns1:cs typeface="+mn-cs"/>
              </ns1:defRPr>
            </ns1:lvl1pPr>
            <ns1:lvl2pPr marL="4572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2pPr>
            <ns1:lvl3pPr marL="9144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3pPr>
            <ns1:lvl4pPr marL="13716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4pPr>
            <ns1:lvl5pPr marL="18288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5pPr>
            <ns1:lvl6pPr marL="22860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6pPr>
            <ns1:lvl7pPr marL="27432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7pPr>
            <ns1:lvl8pPr marL="32004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8pPr>
            <ns1:lvl9pPr marL="36576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en-US" dirty="0"/>
              <ns1:t>PROJECT TITLE</ns1:t>
            </ns1:r>
          </ns1:p>
        </ns0:txBody>
      </ns0:sp>
      <ns0:sp>
        <ns0:nvSpPr>
          <ns0:cNvPr id="14" name="Date Placeholder 3">
            <ns1:extLst>
              <ns1:ext uri="{FF2B5EF4-FFF2-40B4-BE49-F238E27FC236}">
                <ns2:creationId id="{D257C7DE-82B0-4BFD-ADB2-512C0711F065}"/>
              </ns1:ext>
            </ns1:extLst>
          </ns0:cNvPr>
          <ns0:cNvSpPr>
            <ns1:spLocks noGrp="1"/>
          </ns0:cNvSpPr>
          <ns0:nvPr>
            <ns0:ph type="dt" sz="half" idx="10"/>
          </ns0:nvPr>
        </ns0:nvSpPr>
        <ns0:spPr>
          <ns1:xfrm>
            <ns1:off x="457200" y="4767264"/>
            <ns1:ext cx="2133600" cy="273844"/>
          </ns1:xfrm>
        </ns0:spPr>
        <ns0:txBody>
          <ns1:bodyPr/>
          <ns1:lstStyle/>
          <ns1:p>
            <ns1:r>
              <ns1:rPr lang="en-US" dirty="0"/>
              <ns1:t>Date</ns1:t>
            </ns1:r>
          </ns1:p>
        </ns0:txBody>
      </ns0:sp>
    </ns0:spTree>
    <ns0:extLst>
      <ns0:ext uri="{BB962C8B-B14F-4D97-AF65-F5344CB8AC3E}">
        <ns3:creationId val="2548948116"/>
      </ns0:ext>
    </ns0:extLst>
  </ns0:cSld>
  <ns0:clrMapOvr>
    <ns1:masterClrMapping/>
  </ns0:clrMapOvr>
</ns0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7D9A8-9E92-D1F4-462B-6B1337BEC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280A8-23D7-6FD5-6952-C617F7BCB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289732"/>
          </a:xfrm>
        </p:spPr>
        <p:txBody>
          <a:bodyPr>
            <a:norm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paragraph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E9DC980-AAAD-0F6E-F9B1-8CD8988D2F6A}"/>
              </a:ext>
            </a:extLst>
          </p:cNvPr>
          <p:cNvSpPr txBox="1"/>
          <p:nvPr/>
        </p:nvSpPr>
        <p:spPr>
          <a:xfrm>
            <a:off x="8610600" y="4770399"/>
            <a:ext cx="287438" cy="270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2601760-91D1-E069-ABC5-C629C2A3AFA2}"/>
              </a:ext>
            </a:extLst>
          </p:cNvPr>
          <p:cNvSpPr txBox="1"/>
          <p:nvPr/>
        </p:nvSpPr>
        <p:spPr>
          <a:xfrm>
            <a:off x="8077200" y="57260"/>
            <a:ext cx="990600" cy="3499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2025 - 26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E61CFE1-F45C-687F-66B2-648C823C0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>
            <a:normAutofit/>
          </a:bodyPr>
          <a:lstStyle/>
          <a:p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92A8FA4-7C6B-B6CB-01DB-8396366B8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</p:spPr>
        <p:txBody>
          <a:bodyPr/>
          <a:lstStyle/>
          <a:p>
            <a:pPr algn="r"/>
            <a:r>
              <a:rPr lang="en-US" sz="1400" dirty="0">
                <a:solidFill>
                  <a:schemeClr val="tx2"/>
                </a:solidFill>
              </a:rPr>
              <a:t>Department of CSE, Vemana IT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4B6C0BD-8654-D095-B06E-1A48E1CE4BB7}"/>
              </a:ext>
            </a:extLst>
          </p:cNvPr>
          <p:cNvSpPr txBox="1"/>
          <p:nvPr/>
        </p:nvSpPr>
        <p:spPr>
          <a:xfrm>
            <a:off x="457200" y="205978"/>
            <a:ext cx="2819400" cy="2012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TITLE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59657CC6-5FEB-DA84-C3F7-9B1E88316C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</p:spPr>
        <p:txBody>
          <a:bodyPr/>
          <a:lstStyle/>
          <a:p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32295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289732"/>
          </a:xfrm>
        </p:spPr>
        <p:txBody>
          <a:bodyPr>
            <a:norm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to 10 survey papers</a:t>
            </a:r>
          </a:p>
        </p:txBody>
      </p:sp>
      <p:sp>
        <p:nvSpPr>
          <p:cNvPr id="6" name="Footer Placeholder 4"/>
          <p:cNvSpPr txBox="1"/>
          <p:nvPr/>
        </p:nvSpPr>
        <p:spPr>
          <a:xfrm>
            <a:off x="8610600" y="4770399"/>
            <a:ext cx="287438" cy="270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9" name="Date Placeholder 3"/>
          <p:cNvSpPr txBox="1"/>
          <p:nvPr/>
        </p:nvSpPr>
        <p:spPr>
          <a:xfrm>
            <a:off x="8077200" y="57260"/>
            <a:ext cx="990600" cy="3499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2025 - 26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C85129E-0B0B-4C64-B8AF-D54998216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>
            <a:normAutofit/>
          </a:bodyPr>
          <a:lstStyle/>
          <a:p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- 1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1ABF561-8E91-4704-BDD7-0520E384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</p:spPr>
        <p:txBody>
          <a:bodyPr/>
          <a:lstStyle/>
          <a:p>
            <a:pPr algn="r"/>
            <a:r>
              <a:rPr lang="en-US" sz="1400" dirty="0">
                <a:solidFill>
                  <a:schemeClr val="tx2"/>
                </a:solidFill>
              </a:rPr>
              <a:t>Department of CSE, Vemana IT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6885163-434D-45CD-97C7-0ED98D1517AC}"/>
              </a:ext>
            </a:extLst>
          </p:cNvPr>
          <p:cNvSpPr txBox="1"/>
          <p:nvPr/>
        </p:nvSpPr>
        <p:spPr>
          <a:xfrm>
            <a:off x="457200" y="205978"/>
            <a:ext cx="2819400" cy="2012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TITLE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D257C7DE-82B0-4BFD-ADB2-512C0711F0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</p:spPr>
        <p:txBody>
          <a:bodyPr/>
          <a:lstStyle/>
          <a:p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81208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 txBox="1"/>
          <p:nvPr/>
        </p:nvSpPr>
        <p:spPr>
          <a:xfrm>
            <a:off x="8229600" y="4770399"/>
            <a:ext cx="668438" cy="270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tx2"/>
                </a:solidFill>
              </a:rPr>
              <a:t>Slide no</a:t>
            </a:r>
          </a:p>
        </p:txBody>
      </p:sp>
      <p:sp>
        <p:nvSpPr>
          <p:cNvPr id="9" name="Date Placeholder 3"/>
          <p:cNvSpPr txBox="1"/>
          <p:nvPr/>
        </p:nvSpPr>
        <p:spPr>
          <a:xfrm>
            <a:off x="8077200" y="57260"/>
            <a:ext cx="990600" cy="3499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2025 - 26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C85129E-0B0B-4C64-B8AF-D54998216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689372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1ABF561-8E91-4704-BDD7-0520E384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</p:spPr>
        <p:txBody>
          <a:bodyPr/>
          <a:lstStyle/>
          <a:p>
            <a:pPr algn="r"/>
            <a:r>
              <a:rPr lang="en-US" sz="1400" dirty="0">
                <a:solidFill>
                  <a:schemeClr val="tx2"/>
                </a:solidFill>
              </a:rPr>
              <a:t>Department of CSE, Vemana IT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6885163-434D-45CD-97C7-0ED98D1517AC}"/>
              </a:ext>
            </a:extLst>
          </p:cNvPr>
          <p:cNvSpPr txBox="1"/>
          <p:nvPr/>
        </p:nvSpPr>
        <p:spPr>
          <a:xfrm>
            <a:off x="457200" y="205978"/>
            <a:ext cx="2819400" cy="2012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TITLE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D257C7DE-82B0-4BFD-ADB2-512C0711F0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</p:spPr>
        <p:txBody>
          <a:bodyPr/>
          <a:lstStyle/>
          <a:p>
            <a:r>
              <a:rPr lang="en-US" dirty="0"/>
              <a:t>Date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2F4BEE9-7839-47CB-870B-402896CCE369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895351"/>
          <a:ext cx="8839200" cy="3817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>
                  <a:extLst>
                    <a:ext uri="{9D8B030D-6E8A-4147-A177-3AD203B41FA5}">
                      <a16:colId xmlns:a16="http://schemas.microsoft.com/office/drawing/2014/main" val="1878398145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3316006825"/>
                    </a:ext>
                  </a:extLst>
                </a:gridCol>
                <a:gridCol w="1252220">
                  <a:extLst>
                    <a:ext uri="{9D8B030D-6E8A-4147-A177-3AD203B41FA5}">
                      <a16:colId xmlns:a16="http://schemas.microsoft.com/office/drawing/2014/main" val="1534775989"/>
                    </a:ext>
                  </a:extLst>
                </a:gridCol>
                <a:gridCol w="1694180">
                  <a:extLst>
                    <a:ext uri="{9D8B030D-6E8A-4147-A177-3AD203B41FA5}">
                      <a16:colId xmlns:a16="http://schemas.microsoft.com/office/drawing/2014/main" val="3113631313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329433535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3976692249"/>
                    </a:ext>
                  </a:extLst>
                </a:gridCol>
              </a:tblGrid>
              <a:tr h="90714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Algorithm/ Technique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 used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728700"/>
                  </a:ext>
                </a:extLst>
              </a:tr>
              <a:tr h="72571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6912271"/>
                  </a:ext>
                </a:extLst>
              </a:tr>
              <a:tr h="72571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90426"/>
                  </a:ext>
                </a:extLst>
              </a:tr>
              <a:tr h="72571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6787316"/>
                  </a:ext>
                </a:extLst>
              </a:tr>
              <a:tr h="72571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0870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7773465"/>
      </p:ext>
    </p:extLst>
  </p:cSld>
  <p:clrMapOvr>
    <a:masterClrMapping/>
  </p:clrMapOvr>
</p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>
          <ns1:extLst>
            <ns1:ext uri="{FF2B5EF4-FFF2-40B4-BE49-F238E27FC236}">
              <ns2:creationId id="{AAE45960-11CF-1115-1EF3-C288219229B3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Content Placeholder 2">
            <ns1:extLst>
              <ns1:ext uri="{FF2B5EF4-FFF2-40B4-BE49-F238E27FC236}">
                <ns2:creationId id="{D7DCA6CE-23DB-AD91-3A32-B9F32BED9FDA}"/>
              </ns1:ext>
            </ns1:extLst>
          </ns0:cNvPr>
          <ns0:cNvSpPr>
            <ns1:spLocks noGrp="1"/>
          </ns0:cNvSpPr>
          <ns0:nvPr>
            <ns0:ph idx="1"/>
          </ns0:nvPr>
        </ns0:nvSpPr>
        <ns0:spPr>
          <ns1:xfrm>
            <ns1:off x="457200" y="1063229"/>
            <ns1:ext cx="8229600" cy="3289732"/>
          </ns1:xfrm>
        </ns0:spPr>
        <ns0:txBody>
          <ns1:bodyPr wrap="square">
            <ns1:normAutofit/>
          </ns1:bodyPr>
          <ns1:lstStyle/>
          <ns1:p>
            <ns1:pPr marL="285750" indent="-285750" algn="just">
              <ns1:spcBef>
                <ns1:spcPts val="140"/>
              </ns1:spcBef>
              <ns1:spcAft>
                <ns1:spcPts val="80"/>
              </ns1:spcAft>
              <ns1:buChar char="•"/>
            </ns1:pPr>
            <ns1:r>
              <ns1:rPr lang="en-US" sz="1250" b="1" dirty="0">
                <ns1:solidFill>
                  <ns1:srgbClr val="000000"/>
                </ns1:solidFill>
                <ns1:latin typeface="Calibri"/>
                <ns1:cs typeface="Calibri"/>
              </ns1:rPr>
              <ns1:t>Pedagogical Inefficiency of Manual Attendance: </ns1:t>
            </ns1:r>
            <ns1:r>
              <ns1:rPr lang="en-US" sz="1250" b="0" dirty="0">
                <ns1:solidFill>
                  <ns1:srgbClr val="000000"/>
                </ns1:solidFill>
                <ns1:latin typeface="Calibri"/>
                <ns1:cs typeface="Calibri"/>
              </ns1:rPr>
              <ns1:t>Manual roll-call and paper register processes in large university classrooms (60+ students) cause substantial academic disruptions, delays, and administrative overhead.</ns1:t>
            </ns1:r>
          </ns1:p>
          <ns1:p>
            <ns1:pPr marL="285750" indent="-285750" algn="just">
              <ns1:spcBef>
                <ns1:spcPts val="140"/>
              </ns1:spcBef>
              <ns1:spcAft>
                <ns1:spcPts val="80"/>
              </ns1:spcAft>
              <ns1:buChar char="•"/>
            </ns1:pPr>
            <ns1:r>
              <ns1:rPr lang="en-US" sz="1250" b="1" dirty="0">
                <ns1:solidFill>
                  <ns1:srgbClr val="000000"/>
                </ns1:solidFill>
                <ns1:latin typeface="Calibri"/>
                <ns1:cs typeface="Calibri"/>
              </ns1:rPr>
              <ns1:t>Vulnerability to Proxy Attendance &amp; Falsification: </ns1:t>
            </ns1:r>
            <ns1:r>
              <ns1:rPr lang="en-US" sz="1250" b="0" dirty="0">
                <ns1:solidFill>
                  <ns1:srgbClr val="000000"/>
                </ns1:solidFill>
                <ns1:latin typeface="Calibri"/>
                <ns1:cs typeface="Calibri"/>
              </ns1:rPr>
              <ns1:t>Existing attendance recording methods lack continuous, non-repudiable biometric validation, enabling student proxy attendance and unverifiable attendance logs.</ns1:t>
            </ns1:r>
          </ns1:p>
          <ns1:p>
            <ns1:pPr marL="285750" indent="-285750" algn="just">
              <ns1:spcBef>
                <ns1:spcPts val="140"/>
              </ns1:spcBef>
              <ns1:spcAft>
                <ns1:spcPts val="80"/>
              </ns1:spcAft>
              <ns1:buChar char="•"/>
            </ns1:pPr>
            <ns1:r>
              <ns1:rPr lang="en-US" sz="1250" b="1" dirty="0">
                <ns1:solidFill>
                  <ns1:srgbClr val="000000"/>
                </ns1:solidFill>
                <ns1:latin typeface="Calibri"/>
                <ns1:cs typeface="Calibri"/>
              </ns1:rPr>
              <ns1:t>Severe Perspective &amp; Scale Degradation in CCTV Feeds: </ns1:t>
            </ns1:r>
            <ns1:r>
              <ns1:rPr lang="en-US" sz="1250" b="0" dirty="0">
                <ns1:solidFill>
                  <ns1:srgbClr val="000000"/>
                </ns1:solidFill>
                <ns1:latin typeface="Calibri"/>
                <ns1:cs typeface="Calibri"/>
              </ns1:rPr>
              <ns1:t>Single-camera classroom video feeds suffer from acute scale variance, low-pixel facial crops in back rows, dynamic head poses (yaw/pitch), and frequent occlusions.</ns1:t>
            </ns1:r>
          </ns1:p>
          <ns1:p>
            <ns1:pPr marL="285750" indent="-285750" algn="just">
              <ns1:spcBef>
                <ns1:spcPts val="140"/>
              </ns1:spcBef>
              <ns1:spcAft>
                <ns1:spcPts val="80"/>
              </ns1:spcAft>
              <ns1:buChar char="•"/>
            </ns1:pPr>
            <ns1:r>
              <ns1:rPr lang="en-US" sz="1250" b="1" dirty="0">
                <ns1:solidFill>
                  <ns1:srgbClr val="000000"/>
                </ns1:solidFill>
                <ns1:latin typeface="Calibri"/>
                <ns1:cs typeface="Calibri"/>
              </ns1:rPr>
              <ns1:t>Infeasibility of Supervised Biometric Registration: </ns1:t>
            </ns1:r>
            <ns1:r>
              <ns1:rPr lang="en-US" sz="1250" b="0" dirty="0">
                <ns1:solidFill>
                  <ns1:srgbClr val="000000"/>
                </ns1:solidFill>
                <ns1:latin typeface="Calibri"/>
                <ns1:cs typeface="Calibri"/>
              </ns1:rPr>
              <ns1:t>Traditional facial recognition systems mandate controlled, single-person photo enrollment setups that cannot scale efficiently across entire university batches.</ns1:t>
            </ns1:r>
          </ns1:p>
          <ns1:p>
            <ns1:pPr marL="285750" indent="-285750" algn="just">
              <ns1:spcBef>
                <ns1:spcPts val="140"/>
              </ns1:spcBef>
              <ns1:spcAft>
                <ns1:spcPts val="80"/>
              </ns1:spcAft>
              <ns1:buChar char="•"/>
            </ns1:pPr>
            <ns1:r>
              <ns1:rPr lang="en-US" sz="1250" b="1" dirty="0">
                <ns1:solidFill>
                  <ns1:srgbClr val="000000"/>
                </ns1:solidFill>
                <ns1:latin typeface="Calibri"/>
                <ns1:cs typeface="Calibri"/>
              </ns1:rPr>
              <ns1:t>Lack of Integrated Real-Time Telemetry &amp; Risk Analytics: </ns1:t>
            </ns1:r>
            <ns1:r>
              <ns1:rPr lang="en-US" sz="1250" b="0" dirty="0">
                <ns1:solidFill>
                  <ns1:srgbClr val="000000"/>
                </ns1:solidFill>
                <ns1:latin typeface="Calibri"/>
                <ns1:cs typeface="Calibri"/>
              </ns1:rPr>
              <ns1:t>Existing standalone attendance solutions fail to provide unified role-based workflows, live session telemetry, automated absentee risk prediction, and tamper-proof audit trails.</ns1:t>
            </ns1:r>
          </ns1:p>
        </ns0:txBody>
      </ns0:sp>
      <ns0:sp>
        <ns0:nvSpPr>
          <ns0:cNvPr id="6" name="Footer Placeholder 4">
            <ns1:extLst>
              <ns1:ext uri="{FF2B5EF4-FFF2-40B4-BE49-F238E27FC236}">
                <ns2:creationId id="{E7518ADB-37EF-E33B-65E6-BD052B24FDA1}"/>
              </ns1:ext>
            </ns1:extLst>
          </ns0:cNvPr>
          <ns0:cNvSpPr txBox="1"/>
          <ns0:nvPr/>
        </ns0:nvSpPr>
        <ns0:spPr>
          <ns1:xfrm>
            <ns1:off x="8610600" y="4770399"/>
            <ns1:ext cx="287438" cy="270709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marL="0" algn="ctr" rtl="0" latinLnBrk="0">
              <ns1:defRPr sz="1200" kern="1200">
                <ns1:solidFill>
                  <ns1:schemeClr val="tx1">
                    <ns1:tint val="75000"/>
                  </ns1:schemeClr>
                </ns1:solidFill>
                <ns1:latin typeface="+mn-lt"/>
                <ns1:ea typeface="+mn-ea"/>
                <ns1:cs typeface="+mn-cs"/>
              </ns1:defRPr>
            </ns1:lvl1pPr>
            <ns1:lvl2pPr marL="4572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2pPr>
            <ns1:lvl3pPr marL="9144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3pPr>
            <ns1:lvl4pPr marL="13716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4pPr>
            <ns1:lvl5pPr marL="18288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5pPr>
            <ns1:lvl6pPr marL="22860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6pPr>
            <ns1:lvl7pPr marL="27432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7pPr>
            <ns1:lvl8pPr marL="32004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8pPr>
            <ns1:lvl9pPr marL="36576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r"/>
            <ns1:r>
              <ns1:rPr lang="en-US" sz="1400" dirty="0">
                <ns1:solidFill>
                  <ns1:schemeClr val="tx2"/>
                </ns1:solidFill>
              </ns1:rPr>
              <ns1:t>3</ns1:t>
            </ns1:r>
          </ns1:p>
        </ns0:txBody>
      </ns0:sp>
      <ns0:sp>
        <ns0:nvSpPr>
          <ns0:cNvPr id="9" name="Date Placeholder 3">
            <ns1:extLst>
              <ns1:ext uri="{FF2B5EF4-FFF2-40B4-BE49-F238E27FC236}">
                <ns2:creationId id="{2BD9DEE8-CB47-1B7C-EA79-4856DF19E8E1}"/>
              </ns1:ext>
            </ns1:extLst>
          </ns0:cNvPr>
          <ns0:cNvSpPr txBox="1"/>
          <ns0:nvPr/>
        </ns0:nvSpPr>
        <ns0:spPr>
          <ns1:xfrm>
            <ns1:off x="8077200" y="57260"/>
            <ns1:ext cx="990600" cy="349934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marL="0" algn="l" rtl="0" latinLnBrk="0">
              <ns1:defRPr sz="1200" kern="1200">
                <ns1:solidFill>
                  <ns1:schemeClr val="tx1">
                    <ns1:tint val="75000"/>
                  </ns1:schemeClr>
                </ns1:solidFill>
                <ns1:latin typeface="+mn-lt"/>
                <ns1:ea typeface="+mn-ea"/>
                <ns1:cs typeface="+mn-cs"/>
              </ns1:defRPr>
            </ns1:lvl1pPr>
            <ns1:lvl2pPr marL="4572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2pPr>
            <ns1:lvl3pPr marL="9144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3pPr>
            <ns1:lvl4pPr marL="13716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4pPr>
            <ns1:lvl5pPr marL="18288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5pPr>
            <ns1:lvl6pPr marL="22860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6pPr>
            <ns1:lvl7pPr marL="27432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7pPr>
            <ns1:lvl8pPr marL="32004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8pPr>
            <ns1:lvl9pPr marL="36576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en-US" dirty="0"/>
              <ns1:t>2025 - 26 </ns1:t>
            </ns1:r>
          </ns1:p>
        </ns0:txBody>
      </ns0:sp>
      <ns0:sp>
        <ns0:nvSpPr>
          <ns0:cNvPr id="11" name="Title 1">
            <ns1:extLst>
              <ns1:ext uri="{FF2B5EF4-FFF2-40B4-BE49-F238E27FC236}">
                <ns2:creationId id="{D1001871-753C-4B5A-04C3-E5AA319F0A06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457200" y="205978"/>
            <ns1:ext cx="8229600" cy="857250"/>
          </ns1:xfrm>
        </ns0:spPr>
        <ns0:txBody>
          <ns1:bodyPr>
            <ns1:normAutofit/>
          </ns1:bodyPr>
          <ns1:lstStyle/>
          <ns1:p>
            <ns1:r>
              <ns1:rPr lang="en-US" sz="4000" dirty="0">
                <ns1:ln w="0"/>
                <ns1:solidFill>
                  <ns1:schemeClr val="accent1"/>
                </ns1:solidFill>
                <ns1:effectLst>
                  <ns1:outerShdw blurRad="38100" dist="25400" dir="5400000" algn="ctr" rotWithShape="0">
                    <ns1:srgbClr val="6E747A">
                      <ns1:alpha val="43000"/>
                    </ns1:srgbClr>
                  </ns1:outerShdw>
                </ns1:effectLst>
                <ns1:latin typeface="Times New Roman" panose="02020603050405020304" pitchFamily="18" charset="0"/>
                <ns1:cs typeface="Times New Roman" panose="02020603050405020304" pitchFamily="18" charset="0"/>
              </ns1:rPr>
              <ns1:t>PROBLEM STATEMENT</ns1:t>
            </ns1:r>
          </ns1:p>
        </ns0:txBody>
      </ns0:sp>
      <ns0:sp>
        <ns0:nvSpPr>
          <ns0:cNvPr id="13" name="Footer Placeholder 4">
            <ns1:extLst>
              <ns1:ext uri="{FF2B5EF4-FFF2-40B4-BE49-F238E27FC236}">
                <ns2:creationId id="{776D6C6F-1F18-84A6-3194-6EF4FD65648D}"/>
              </ns1:ext>
            </ns1:extLst>
          </ns0:cNvPr>
          <ns0:cNvSpPr>
            <ns1:spLocks noGrp="1"/>
          </ns0:cNvSpPr>
          <ns0:nvPr>
            <ns0:ph type="ftr" sz="quarter" idx="11"/>
          </ns0:nvPr>
        </ns0:nvSpPr>
        <ns0:spPr>
          <ns1:xfrm>
            <ns1:off x="3124200" y="4767264"/>
            <ns1:ext cx="2895600" cy="273844"/>
          </ns1:xfrm>
        </ns0:spPr>
        <ns0:txBody>
          <ns1:bodyPr/>
          <ns1:lstStyle/>
          <ns1:p>
            <ns1:pPr algn="r"/>
            <ns1:r>
              <ns1:rPr lang="en-US" sz="1400" dirty="0">
                <ns1:solidFill>
                  <ns1:schemeClr val="tx2"/>
                </ns1:solidFill>
              </ns1:rPr>
              <ns1:t>Department of CSE, Vemana IT</ns1:t>
            </ns1:r>
          </ns1:p>
        </ns0:txBody>
      </ns0:sp>
      <ns0:sp>
        <ns0:nvSpPr>
          <ns0:cNvPr id="10" name="Date Placeholder 3">
            <ns1:extLst>
              <ns1:ext uri="{FF2B5EF4-FFF2-40B4-BE49-F238E27FC236}">
                <ns2:creationId id="{C9AD5344-03C2-904F-46C0-CD1D451FAC5A}"/>
              </ns1:ext>
            </ns1:extLst>
          </ns0:cNvPr>
          <ns0:cNvSpPr txBox="1"/>
          <ns0:nvPr/>
        </ns0:nvSpPr>
        <ns0:spPr>
          <ns1:xfrm>
            <ns1:off x="457200" y="205978"/>
            <ns1:ext cx="2819400" cy="201216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marL="0" algn="l" rtl="0" latinLnBrk="0">
              <ns1:defRPr sz="1200" kern="1200">
                <ns1:solidFill>
                  <ns1:schemeClr val="tx1">
                    <ns1:tint val="75000"/>
                  </ns1:schemeClr>
                </ns1:solidFill>
                <ns1:latin typeface="+mn-lt"/>
                <ns1:ea typeface="+mn-ea"/>
                <ns1:cs typeface="+mn-cs"/>
              </ns1:defRPr>
            </ns1:lvl1pPr>
            <ns1:lvl2pPr marL="4572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2pPr>
            <ns1:lvl3pPr marL="9144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3pPr>
            <ns1:lvl4pPr marL="13716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4pPr>
            <ns1:lvl5pPr marL="18288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5pPr>
            <ns1:lvl6pPr marL="22860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6pPr>
            <ns1:lvl7pPr marL="27432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7pPr>
            <ns1:lvl8pPr marL="32004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8pPr>
            <ns1:lvl9pPr marL="3657600" algn="l" rtl="0" latinLnBrk="0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en-US" dirty="0"/>
              <ns1:t>PROJECT TITLE</ns1:t>
            </ns1:r>
          </ns1:p>
        </ns0:txBody>
      </ns0:sp>
      <ns0:sp>
        <ns0:nvSpPr>
          <ns0:cNvPr id="14" name="Date Placeholder 3">
            <ns1:extLst>
              <ns1:ext uri="{FF2B5EF4-FFF2-40B4-BE49-F238E27FC236}">
                <ns2:creationId id="{DD596652-A498-3FF2-4EE5-09A27E8C06B1}"/>
              </ns1:ext>
            </ns1:extLst>
          </ns0:cNvPr>
          <ns0:cNvSpPr>
            <ns1:spLocks noGrp="1"/>
          </ns0:cNvSpPr>
          <ns0:nvPr>
            <ns0:ph type="dt" sz="half" idx="10"/>
          </ns0:nvPr>
        </ns0:nvSpPr>
        <ns0:spPr>
          <ns1:xfrm>
            <ns1:off x="457200" y="4767264"/>
            <ns1:ext cx="2133600" cy="273844"/>
          </ns1:xfrm>
        </ns0:spPr>
        <ns0:txBody>
          <ns1:bodyPr/>
          <ns1:lstStyle/>
          <ns1:p>
            <ns1:r>
              <ns1:rPr lang="en-US" dirty="0"/>
              <ns1:t>Date</ns1:t>
            </ns1:r>
          </ns1:p>
        </ns0:txBody>
      </ns0:sp>
    </ns0:spTree>
    <ns0:extLst>
      <ns0:ext uri="{BB962C8B-B14F-4D97-AF65-F5344CB8AC3E}">
        <ns3:creationId val="3582168983"/>
      </ns0:ext>
    </ns0:extLst>
  </ns0:cSld>
  <ns0:clrMapOvr>
    <ns1:masterClrMapping/>
  </ns0:clrMapOvr>
</ns0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BD301-D7DB-F354-46A3-23D3B8DB9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F7F5A-7A29-92F9-0BB0-42A5D1E0A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289732"/>
          </a:xfrm>
        </p:spPr>
        <p:txBody>
          <a:bodyPr wrap="square">
            <a:normAutofit/>
          </a:bodyPr>
          <a:lstStyle/>
          <a:p>
            <a:pPr algn="just">
              <a:spcBef>
                <a:spcPts val="400"/>
              </a:spcBef>
              <a:spcAft>
                <a:spcPts val="100"/>
              </a:spcAft>
              <a:defRPr sz="1350" b="1">
                <a:solidFill>
                  <a:srgbClr val="003366"/>
                </a:solidFill>
                <a:latin typeface="Calibri"/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6A8266B-DE96-C6B0-F2A7-2385D240184A}"/>
              </a:ext>
            </a:extLst>
          </p:cNvPr>
          <p:cNvSpPr txBox="1"/>
          <p:nvPr/>
        </p:nvSpPr>
        <p:spPr>
          <a:xfrm>
            <a:off x="8610600" y="4770399"/>
            <a:ext cx="287438" cy="270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7D0592E-6DA8-ABAB-5456-BEA630E58F18}"/>
              </a:ext>
            </a:extLst>
          </p:cNvPr>
          <p:cNvSpPr txBox="1"/>
          <p:nvPr/>
        </p:nvSpPr>
        <p:spPr>
          <a:xfrm>
            <a:off x="8077200" y="57260"/>
            <a:ext cx="990600" cy="3499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2025 - 26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D3DE189-2EF8-CF87-4911-873A92A08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>
            <a:normAutofit/>
          </a:bodyPr>
          <a:lstStyle/>
          <a:p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EEE62DB9-2023-8044-E8B0-88BB1ECD9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</p:spPr>
        <p:txBody>
          <a:bodyPr/>
          <a:lstStyle/>
          <a:p>
            <a:pPr algn="r"/>
            <a:r>
              <a:rPr lang="en-US" sz="1400" dirty="0">
                <a:solidFill>
                  <a:schemeClr val="tx2"/>
                </a:solidFill>
              </a:rPr>
              <a:t>Department of CSE, Vemana IT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7E8B796-4133-CBE5-92E7-99A3AF295FD6}"/>
              </a:ext>
            </a:extLst>
          </p:cNvPr>
          <p:cNvSpPr txBox="1"/>
          <p:nvPr/>
        </p:nvSpPr>
        <p:spPr>
          <a:xfrm>
            <a:off x="457200" y="205978"/>
            <a:ext cx="2819400" cy="2012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TITLE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1F9657A-F1D3-6154-640F-AB4187F775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</p:spPr>
        <p:txBody>
          <a:bodyPr/>
          <a:lstStyle/>
          <a:p>
            <a:r>
              <a:rPr lang="en-US" dirty="0"/>
              <a:t>Date</a:t>
            </a:r>
          </a:p>
        </p:txBody>
      </p:sp>
      <p:pic>
        <p:nvPicPr>
          <p:cNvPr id="15" name="Picture 14" descr="proposed_system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0"/>
            <a:ext cx="11430000" cy="492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78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6C3E3-4E69-887E-AB15-CF3DE7D78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9D4B9-BA57-E577-9B4F-A1D321A32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3328"/>
            <a:ext cx="8229600" cy="3289732"/>
          </a:xfrm>
        </p:spPr>
        <p:txBody>
          <a:bodyPr wrap="square">
            <a:normAutofit/>
          </a:bodyPr>
          <a:lstStyle/>
          <a:p>
            <a:pPr algn="just"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  <a:latin typeface="Calibri"/>
              </a:defRPr>
            </a:pPr>
            <a:r>
              <a:t>HARDWARE REQUIREMENTS: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"/>
              </a:spcBef>
              <a:spcAft>
                <a:spcPts val="100"/>
              </a:spcAft>
              <a:defRPr sz="1150" b="0">
                <a:solidFill>
                  <a:srgbClr val="333333"/>
                </a:solidFill>
                <a:latin typeface="Calibri"/>
              </a:defRPr>
            </a:pPr>
            <a:r>
              <a:t>Processor (CPU): Multi-Core Intel Core i7 / Xeon or Apple Silicon M-Series (M1/M2/M3/M5) (8+ Cores).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150" b="0">
                <a:solidFill>
                  <a:srgbClr val="333333"/>
                </a:solidFill>
                <a:latin typeface="Calibri"/>
              </a:defRPr>
            </a:pPr>
            <a:r>
              <a:t>System Memory (RAM): Minimum 16 GB DDR4/DDR5 Unified Memory (32 GB recommended for multi-stream AI processing).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150" b="0">
                <a:solidFill>
                  <a:srgbClr val="333333"/>
                </a:solidFill>
                <a:latin typeface="Calibri"/>
              </a:defRPr>
            </a:pPr>
            <a:r>
              <a:t>GPU / Acceleration (Optional): NVIDIA RTX 3060/4070 or Apple Neural Engine / Metal for ONNX Runtime acceleration.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150" b="0">
                <a:solidFill>
                  <a:srgbClr val="333333"/>
                </a:solidFill>
                <a:latin typeface="Calibri"/>
              </a:defRPr>
            </a:pPr>
            <a:r>
              <a:t>Storage: 512 GB NVMe Solid State Drive (SSD) for high-speed video frame buffers, crop storage, and databases.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150" b="0">
                <a:solidFill>
                  <a:srgbClr val="333333"/>
                </a:solidFill>
                <a:latin typeface="Calibri"/>
              </a:defRPr>
            </a:pPr>
            <a:r>
              <a:t>Camera Infrastructure: Fixed Classroom CCTV IP Cameras (1080p Full HD @ 25 FPS, RTSP / H.264 video streaming).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  <a:latin typeface="Calibri"/>
              </a:defRPr>
            </a:pPr>
            <a:r>
              <a:t>SOFTWARE REQUIREMENTS: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150" b="0">
                <a:solidFill>
                  <a:srgbClr val="333333"/>
                </a:solidFill>
                <a:latin typeface="Calibri"/>
              </a:defRPr>
            </a:pPr>
            <a:r>
              <a:t>Operating System: macOS 14+, Linux (Ubuntu 22.04 LTS), or Microsoft Windows 11.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150" b="0">
                <a:solidFill>
                  <a:srgbClr val="333333"/>
                </a:solidFill>
                <a:latin typeface="Calibri"/>
              </a:defRPr>
            </a:pPr>
            <a:r>
              <a:t>Core Runtimes: Python 3.12+ (AI Service Engine), Node.js v20+ / TypeScript (Web Console &amp; API Gateway).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150" b="0">
                <a:solidFill>
                  <a:srgbClr val="333333"/>
                </a:solidFill>
                <a:latin typeface="Calibri"/>
              </a:defRPr>
            </a:pPr>
            <a:r>
              <a:t>AI &amp; Vision Libraries: OpenCV, InsightFace (SCRFD 10G Detector), ArcFace (512D ONNX Model), MediaPipe Face Landmarker.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150" b="0">
                <a:solidFill>
                  <a:srgbClr val="333333"/>
                </a:solidFill>
                <a:latin typeface="Calibri"/>
              </a:defRPr>
            </a:pPr>
            <a:r>
              <a:t>Vector Search &amp; ML Tools: FAISS (Facebook AI Similarity Search), HDBSCAN (Clustering), NumPy, Scikit-Learn.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150" b="0">
                <a:solidFill>
                  <a:srgbClr val="333333"/>
                </a:solidFill>
                <a:latin typeface="Calibri"/>
              </a:defRPr>
            </a:pPr>
            <a:r>
              <a:t>Web &amp; API Frameworks: Next.js 16 (React, TailwindCSS), NestJS 11 (API Gateway), FastAPI (Python Microservice).</a:t>
            </a:r>
          </a:p>
          <a:p>
            <a:pPr lvl="1">
              <a:spcBef>
                <a:spcPts val="100"/>
              </a:spcBef>
              <a:spcAft>
                <a:spcPts val="100"/>
              </a:spcAft>
              <a:defRPr sz="1150" b="0">
                <a:solidFill>
                  <a:srgbClr val="333333"/>
                </a:solidFill>
                <a:latin typeface="Calibri"/>
              </a:defRPr>
            </a:pPr>
            <a:r>
              <a:t>Database &amp; Storage: PostgreSQL 16 with Prisma ORM, Redis (Session Caching), MinIO (S3 Biometric Storage).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60E4A4C-129B-D055-0A60-3267FA255C47}"/>
              </a:ext>
            </a:extLst>
          </p:cNvPr>
          <p:cNvSpPr txBox="1"/>
          <p:nvPr/>
        </p:nvSpPr>
        <p:spPr>
          <a:xfrm>
            <a:off x="8610600" y="4770399"/>
            <a:ext cx="287438" cy="270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21843C3-2EB0-CE80-D497-7D9E2EEF75F2}"/>
              </a:ext>
            </a:extLst>
          </p:cNvPr>
          <p:cNvSpPr txBox="1"/>
          <p:nvPr/>
        </p:nvSpPr>
        <p:spPr>
          <a:xfrm>
            <a:off x="8077200" y="57260"/>
            <a:ext cx="990600" cy="3499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2025 - 26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3AA4D90-0860-3C56-E803-718675A36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6078"/>
            <a:ext cx="8229600" cy="857250"/>
          </a:xfrm>
        </p:spPr>
        <p:txBody>
          <a:bodyPr>
            <a:noAutofit/>
          </a:bodyPr>
          <a:lstStyle/>
          <a:p>
            <a:r>
              <a:rPr lang="en-GB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 (HARDWARE &amp; SOFTWARE REQUIREMENTS)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35DE295-533E-19F5-BDC1-55E3F422C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</p:spPr>
        <p:txBody>
          <a:bodyPr/>
          <a:lstStyle/>
          <a:p>
            <a:pPr algn="r"/>
            <a:r>
              <a:rPr lang="en-US" sz="1400" dirty="0">
                <a:solidFill>
                  <a:schemeClr val="tx2"/>
                </a:solidFill>
              </a:rPr>
              <a:t>Department of CSE, Vemana IT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86FB371-9EE3-2C20-38C3-40D8C37837C0}"/>
              </a:ext>
            </a:extLst>
          </p:cNvPr>
          <p:cNvSpPr txBox="1"/>
          <p:nvPr/>
        </p:nvSpPr>
        <p:spPr>
          <a:xfrm>
            <a:off x="457200" y="205978"/>
            <a:ext cx="2819400" cy="2012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TITLE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F1A3500-AD0F-1F62-55A7-92FBB45090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</p:spPr>
        <p:txBody>
          <a:bodyPr/>
          <a:lstStyle/>
          <a:p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501965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26D0F-0220-7B24-69AF-A53540E91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DEB2D-4C36-490E-4ED4-6216A5587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593" y="1211946"/>
            <a:ext cx="8229600" cy="3289732"/>
          </a:xfrm>
        </p:spPr>
        <p:txBody>
          <a:bodyPr wrap="square">
            <a:normAutofit/>
          </a:bodyPr>
          <a:lstStyle/>
          <a:p>
            <a:pPr algn="just"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  <a:latin typeface="Calibri"/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B14C605-CB4F-A694-4519-8449E65989CA}"/>
              </a:ext>
            </a:extLst>
          </p:cNvPr>
          <p:cNvSpPr txBox="1"/>
          <p:nvPr/>
        </p:nvSpPr>
        <p:spPr>
          <a:xfrm>
            <a:off x="8610600" y="4770399"/>
            <a:ext cx="287438" cy="270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400E849-D7F0-3E60-241E-C43CAD34F4BC}"/>
              </a:ext>
            </a:extLst>
          </p:cNvPr>
          <p:cNvSpPr txBox="1"/>
          <p:nvPr/>
        </p:nvSpPr>
        <p:spPr>
          <a:xfrm>
            <a:off x="8077200" y="57260"/>
            <a:ext cx="990600" cy="3499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2025 - 26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D5D1EDF-D420-669A-EB49-F798B5853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193" y="342711"/>
            <a:ext cx="8001000" cy="857250"/>
          </a:xfrm>
        </p:spPr>
        <p:txBody>
          <a:bodyPr>
            <a:noAutofit/>
          </a:bodyPr>
          <a:lstStyle/>
          <a:p>
            <a:r>
              <a:rPr lang="en-GB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(SYSTEM ARCHITECTURE &amp; DATAFLOW DIAGRAM)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EA99B7D-C2C1-D9E9-0EA5-5D2161016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</p:spPr>
        <p:txBody>
          <a:bodyPr/>
          <a:lstStyle/>
          <a:p>
            <a:pPr algn="r"/>
            <a:r>
              <a:rPr lang="en-US" sz="1400" dirty="0">
                <a:solidFill>
                  <a:schemeClr val="tx2"/>
                </a:solidFill>
              </a:rPr>
              <a:t>Department of CSE, Vemana IT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F2A6FB4-A57B-912B-76E9-6190E036E0BC}"/>
              </a:ext>
            </a:extLst>
          </p:cNvPr>
          <p:cNvSpPr txBox="1"/>
          <p:nvPr/>
        </p:nvSpPr>
        <p:spPr>
          <a:xfrm>
            <a:off x="457200" y="205978"/>
            <a:ext cx="2819400" cy="2012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TITLE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8D91BB66-9D34-9DFB-AFBF-6CD67197D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</p:spPr>
        <p:txBody>
          <a:bodyPr/>
          <a:lstStyle/>
          <a:p>
            <a:r>
              <a:rPr lang="en-US" dirty="0"/>
              <a:t>Date</a:t>
            </a:r>
          </a:p>
        </p:txBody>
      </p:sp>
      <p:pic>
        <p:nvPicPr>
          <p:cNvPr id="15" name="Picture 14" descr="methodology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0"/>
            <a:ext cx="11430000" cy="4662426"/>
          </a:xfrm>
          <a:prstGeom prst="rect">
            <a:avLst/>
          </a:prstGeom>
        </p:spPr>
      </p:pic>
      <p:pic>
        <p:nvPicPr>
          <p:cNvPr id="16" name="Picture 15" descr="system_architecture_sl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45920"/>
            <a:ext cx="11430000" cy="492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205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C34B4-842D-8DAF-F512-BCDB15048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27317-60FD-F346-BB5A-622DBC28C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9661"/>
            <a:ext cx="8229600" cy="3289732"/>
          </a:xfrm>
        </p:spPr>
        <p:txBody>
          <a:bodyPr>
            <a:normAutofit/>
          </a:bodyPr>
          <a:lstStyle/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EF474A8-560E-8F8A-4ECB-3D653852DC61}"/>
              </a:ext>
            </a:extLst>
          </p:cNvPr>
          <p:cNvSpPr txBox="1"/>
          <p:nvPr/>
        </p:nvSpPr>
        <p:spPr>
          <a:xfrm>
            <a:off x="8610600" y="4770399"/>
            <a:ext cx="287438" cy="270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C9227E2-F875-D2D2-751D-44245D063285}"/>
              </a:ext>
            </a:extLst>
          </p:cNvPr>
          <p:cNvSpPr txBox="1"/>
          <p:nvPr/>
        </p:nvSpPr>
        <p:spPr>
          <a:xfrm>
            <a:off x="8077200" y="57260"/>
            <a:ext cx="990600" cy="3499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2025 - 26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3E3DC5-BC72-B4E8-60ED-ACF86BA5B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435729"/>
            <a:ext cx="8382000" cy="857250"/>
          </a:xfrm>
        </p:spPr>
        <p:txBody>
          <a:bodyPr>
            <a:noAutofit/>
          </a:bodyPr>
          <a:lstStyle/>
          <a:p>
            <a:r>
              <a:rPr lang="en-GB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 (SYSTEM ARCHITECTURE, DATA FLOW DIAGRAM, SEQUENCE DIAGRAM, USE CASE DIAGRAM)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0AD27DE-2526-9EDC-5616-C4FC27D85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</p:spPr>
        <p:txBody>
          <a:bodyPr/>
          <a:lstStyle/>
          <a:p>
            <a:pPr algn="r"/>
            <a:r>
              <a:rPr lang="en-US" sz="1400" dirty="0">
                <a:solidFill>
                  <a:schemeClr val="tx2"/>
                </a:solidFill>
              </a:rPr>
              <a:t>Department of CSE, Vemana IT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A8AE50A-8C1E-329E-EB1C-4951D8886EF0}"/>
              </a:ext>
            </a:extLst>
          </p:cNvPr>
          <p:cNvSpPr txBox="1"/>
          <p:nvPr/>
        </p:nvSpPr>
        <p:spPr>
          <a:xfrm>
            <a:off x="457200" y="205978"/>
            <a:ext cx="2819400" cy="2012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TITLE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B78658C-EDD4-98BD-ABEC-98965006A5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</p:spPr>
        <p:txBody>
          <a:bodyPr/>
          <a:lstStyle/>
          <a:p>
            <a:r>
              <a:rPr lang="en-US" dirty="0"/>
              <a:t>Date</a:t>
            </a:r>
          </a:p>
        </p:txBody>
      </p:sp>
      <p:pic>
        <p:nvPicPr>
          <p:cNvPr id="15" name="Picture 14" descr="data_flow_diagram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0"/>
            <a:ext cx="11430000" cy="492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190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E1F50-9FBA-718F-5FA5-563AA1DD8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D21A7-889D-2E27-2085-75AE650D6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9661"/>
            <a:ext cx="8229600" cy="3289732"/>
          </a:xfrm>
        </p:spPr>
        <p:txBody>
          <a:bodyPr wrap="square">
            <a:normAutofit/>
          </a:bodyPr>
          <a:lstStyle/>
          <a:p>
            <a:pPr algn="just">
              <a:spcBef>
                <a:spcPts val="400"/>
              </a:spcBef>
              <a:spcAft>
                <a:spcPts val="100"/>
              </a:spcAft>
              <a:defRPr sz="1200" b="1">
                <a:solidFill>
                  <a:srgbClr val="003366"/>
                </a:solidFill>
                <a:latin typeface="Calibri"/>
              </a:defRPr>
            </a:pPr>
            <a:r>
              <a:t>1. ADAPTIVE MULTI-SCALE FACE DETECTOR (Python / SCRFD 10G):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100"/>
              </a:spcAft>
              <a:defRPr sz="950" b="1">
                <a:solidFill>
                  <a:srgbClr val="282828"/>
                </a:solidFill>
                <a:latin typeface="Consolas"/>
              </a:defRPr>
            </a:pPr>
            <a:r>
              <a:t>def detect_multiscale_faces(self, frame, force_recovery=False):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defRPr sz="950" b="0">
                <a:solidFill>
                  <a:srgbClr val="282828"/>
                </a:solidFill>
                <a:latin typeface="Consolas"/>
              </a:defRPr>
            </a:pPr>
            <a:r>
              <a:t>    primary_dets = self.detect_faces(frame)  # Scale 1: Full Frame SCRFD 10G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defRPr sz="950" b="0">
                <a:solidFill>
                  <a:srgbClr val="282828"/>
                </a:solidFill>
                <a:latin typeface="Consolas"/>
              </a:defRPr>
            </a:pPr>
            <a:r>
              <a:t>    back_row = [d for d in primary_dets if (d['bbox'][1]+d['bbox'][3])/2.0 &lt; 650]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defRPr sz="950" b="0">
                <a:solidFill>
                  <a:srgbClr val="282828"/>
                </a:solidFill>
                <a:latin typeface="Consolas"/>
              </a:defRPr>
            </a:pPr>
            <a:r>
              <a:t>    if len(back_row) &lt; 15 or force_recovery:  # Trigger 1.8x ROI Tile Recovery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defRPr sz="950" b="0">
                <a:solidFill>
                  <a:srgbClr val="282828"/>
                </a:solidFill>
                <a:latin typeface="Consolas"/>
              </a:defRPr>
            </a:pPr>
            <a:r>
              <a:t>        roi_tile = cv2.resize(frame[0:650, :], None, fx=1.8, fy=1.8)  # Scale 2 &amp; 3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defRPr sz="950" b="0">
                <a:solidFill>
                  <a:srgbClr val="282828"/>
                </a:solidFill>
                <a:latin typeface="Consolas"/>
              </a:defRPr>
            </a:pPr>
            <a:r>
              <a:t>        recovered = self.detect_faces(roi_tile)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defRPr sz="950" b="0">
                <a:solidFill>
                  <a:srgbClr val="282828"/>
                </a:solidFill>
                <a:latin typeface="Consolas"/>
              </a:defRPr>
            </a:pPr>
            <a:r>
              <a:t>        primary_dets.extend(self._remap_and_nms(recovered, scale=1.8, iou_thresh=0.40))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defRPr sz="950" b="0">
                <a:solidFill>
                  <a:srgbClr val="282828"/>
                </a:solidFill>
                <a:latin typeface="Consolas"/>
              </a:defRPr>
            </a:pPr>
            <a:r>
              <a:t>    return primary_dets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200" b="1">
                <a:solidFill>
                  <a:srgbClr val="003366"/>
                </a:solidFill>
                <a:latin typeface="Calibri"/>
              </a:defRPr>
            </a:pPr>
            <a:r>
              <a:t>2. TRACKING &amp; MEDIAPIPE QUALITY FILTER (Python / MediaPipe Landmarker):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defRPr sz="950" b="1">
                <a:solidFill>
                  <a:srgbClr val="282828"/>
                </a:solidFill>
                <a:latin typeface="Consolas"/>
              </a:defRPr>
            </a:pPr>
            <a:r>
              <a:t>def consider_sample(self, crop, timestamp, max_samples=5):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defRPr sz="950" b="0">
                <a:solidFill>
                  <a:srgbClr val="282828"/>
                </a:solidFill>
                <a:latin typeface="Consolas"/>
              </a:defRPr>
            </a:pPr>
            <a:r>
              <a:t>    if len(self.selected_samples) &gt;= max_samples: return None  # Max 5 Samples/Track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defRPr sz="950" b="0">
                <a:solidFill>
                  <a:srgbClr val="282828"/>
                </a:solidFill>
                <a:latin typeface="Consolas"/>
              </a:defRPr>
            </a:pPr>
            <a:r>
              <a:t>    mp_res = mediapipe_face_quality_service.evaluate_crop(crop)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defRPr sz="950" b="0">
                <a:solidFill>
                  <a:srgbClr val="282828"/>
                </a:solidFill>
                <a:latin typeface="Consolas"/>
              </a:defRPr>
            </a:pPr>
            <a:r>
              <a:t>    if mp_res['is_acceptable']:  # Validate Head Pose (-30..+30 deg) &amp; Blur Sharpness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defRPr sz="950" b="0">
                <a:solidFill>
                  <a:srgbClr val="282828"/>
                </a:solidFill>
                <a:latin typeface="Consolas"/>
              </a:defRPr>
            </a:pPr>
            <a:r>
              <a:t>        self.selected_samples.append({'crop': crop, 'quality': mp_res['overall_quality']})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200" b="1">
                <a:solidFill>
                  <a:srgbClr val="003366"/>
                </a:solidFill>
                <a:latin typeface="Calibri"/>
              </a:defRPr>
            </a:pPr>
            <a:r>
              <a:t>3. ARCFACE 512D &amp; FAISS VECTOR SEARCH (Python / ONNX / FAISS):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defRPr sz="950" b="0">
                <a:solidFill>
                  <a:srgbClr val="282828"/>
                </a:solidFill>
                <a:latin typeface="Consolas"/>
              </a:defRPr>
            </a:pPr>
            <a:r>
              <a:t>emb = embedding_service.generate_embedding(crop)  # 512D L2 Normalized Vector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defRPr sz="950" b="0">
                <a:solidFill>
                  <a:srgbClr val="333333"/>
                </a:solidFill>
                <a:latin typeface="Calibri"/>
              </a:defRPr>
            </a:pPr>
            <a:r>
              <a:t>match = faiss_service.search_face(emb, threshold=0.58)  # Sub-Millisecond Vector Search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200" b="1">
                <a:solidFill>
                  <a:srgbClr val="003366"/>
                </a:solidFill>
                <a:latin typeface="Calibri"/>
              </a:defRPr>
            </a:pPr>
            <a:r>
              <a:t>4. NEXT.JS 16 DASHBOARD TELEMETRY (TypeScript / React / WebSockets):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defRPr sz="950" b="0">
                <a:solidFill>
                  <a:srgbClr val="282828"/>
                </a:solidFill>
                <a:latin typeface="Consolas"/>
              </a:defRPr>
            </a:pPr>
            <a:r>
              <a:t>&lt;StatChip icon={ScanFace} label='Detections' value={active.detectedFacesCount} /&gt;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defRPr sz="950" b="0">
                <a:solidFill>
                  <a:srgbClr val="282828"/>
                </a:solidFill>
                <a:latin typeface="Consolas"/>
              </a:defRPr>
            </a:pPr>
            <a:r>
              <a:t>&lt;StatChip icon={Layers} label='Tracks' value={active.totalTracks} /&gt;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defRPr sz="950" b="0">
                <a:solidFill>
                  <a:srgbClr val="282828"/>
                </a:solidFill>
                <a:latin typeface="Consolas"/>
              </a:defRPr>
            </a:pPr>
            <a:r>
              <a:t>&lt;StatChip icon={Fingerprint} label='ArcFace 512D' value={active.arcfaceEmbeddings} /&gt;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6F8BCC2-450F-431F-93F8-0E24F94A4D94}"/>
              </a:ext>
            </a:extLst>
          </p:cNvPr>
          <p:cNvSpPr txBox="1"/>
          <p:nvPr/>
        </p:nvSpPr>
        <p:spPr>
          <a:xfrm>
            <a:off x="8610600" y="4770399"/>
            <a:ext cx="287438" cy="270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BF69C8C-5490-47E5-1415-D4CB7A7943F6}"/>
              </a:ext>
            </a:extLst>
          </p:cNvPr>
          <p:cNvSpPr txBox="1"/>
          <p:nvPr/>
        </p:nvSpPr>
        <p:spPr>
          <a:xfrm>
            <a:off x="8077200" y="57260"/>
            <a:ext cx="990600" cy="3499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2025 - 26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0CF6967-9BDF-3EA7-0E08-01BCABC27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586"/>
            <a:ext cx="8229600" cy="857250"/>
          </a:xfrm>
        </p:spPr>
        <p:txBody>
          <a:bodyPr>
            <a:noAutofit/>
          </a:bodyPr>
          <a:lstStyle/>
          <a:p>
            <a:r>
              <a:rPr lang="en-GB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PROGRESS (PARTIAL CODE, CODE SNIPPETS OF THE UI/BACKEND DEVELOPED SO FAR)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C9E2D10-335C-C976-2E8D-56974FE19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</p:spPr>
        <p:txBody>
          <a:bodyPr/>
          <a:lstStyle/>
          <a:p>
            <a:pPr algn="r"/>
            <a:r>
              <a:rPr lang="en-US" sz="1400" dirty="0">
                <a:solidFill>
                  <a:schemeClr val="tx2"/>
                </a:solidFill>
              </a:rPr>
              <a:t>Department of CSE, Vemana IT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BBA2284-FC6D-AC59-AF67-A55807F08403}"/>
              </a:ext>
            </a:extLst>
          </p:cNvPr>
          <p:cNvSpPr txBox="1"/>
          <p:nvPr/>
        </p:nvSpPr>
        <p:spPr>
          <a:xfrm>
            <a:off x="457200" y="205978"/>
            <a:ext cx="2819400" cy="2012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TITLE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5D4AE4EF-6322-A973-8C6A-4F4C03DCCF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</p:spPr>
        <p:txBody>
          <a:bodyPr/>
          <a:lstStyle/>
          <a:p>
            <a:r>
              <a:rPr lang="en-US" dirty="0"/>
              <a:t>Date</a:t>
            </a:r>
          </a:p>
        </p:txBody>
      </p:sp>
      <p:pic>
        <p:nvPicPr>
          <p:cNvPr id="15" name="Picture 14" descr="sequence_diagram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0"/>
            <a:ext cx="11430000" cy="492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408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299B5-44CA-BE43-8D31-11C4A6443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78752-2EE1-58E2-2058-123ED0F53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9661"/>
            <a:ext cx="8229600" cy="3289732"/>
          </a:xfrm>
        </p:spPr>
        <p:txBody>
          <a:bodyPr>
            <a:normAutofit/>
          </a:bodyPr>
          <a:lstStyle/>
          <a:p/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52C35BF-4432-1C74-015E-C7E20AE6EE3E}"/>
              </a:ext>
            </a:extLst>
          </p:cNvPr>
          <p:cNvSpPr txBox="1"/>
          <p:nvPr/>
        </p:nvSpPr>
        <p:spPr>
          <a:xfrm>
            <a:off x="8610600" y="4770399"/>
            <a:ext cx="287438" cy="270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0C78249-2BB4-B3BD-4B87-5659893551C3}"/>
              </a:ext>
            </a:extLst>
          </p:cNvPr>
          <p:cNvSpPr txBox="1"/>
          <p:nvPr/>
        </p:nvSpPr>
        <p:spPr>
          <a:xfrm>
            <a:off x="8077200" y="57260"/>
            <a:ext cx="990600" cy="3499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2025 - 26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5A920B7-6369-F934-7EF2-2FDF4119A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586"/>
            <a:ext cx="8229600" cy="857250"/>
          </a:xfrm>
        </p:spPr>
        <p:txBody>
          <a:bodyPr>
            <a:no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3-WEEK IMPLEMENTATION PLAN &amp; WEEK-1 DELIVERABLES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C4F3058-B610-039C-EEA9-880C64DB9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</p:spPr>
        <p:txBody>
          <a:bodyPr/>
          <a:lstStyle/>
          <a:p>
            <a:pPr algn="r"/>
            <a:r>
              <a:rPr lang="en-US" sz="1400" dirty="0">
                <a:solidFill>
                  <a:schemeClr val="tx2"/>
                </a:solidFill>
              </a:rPr>
              <a:t>Department of CSE, Vemana IT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751EB69-2AD6-603E-AF86-E85131385FE2}"/>
              </a:ext>
            </a:extLst>
          </p:cNvPr>
          <p:cNvSpPr txBox="1"/>
          <p:nvPr/>
        </p:nvSpPr>
        <p:spPr>
          <a:xfrm>
            <a:off x="457200" y="205978"/>
            <a:ext cx="2819400" cy="2012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TITLE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22A26E7-FC64-DDF1-C649-4E63D547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</p:spPr>
        <p:txBody>
          <a:bodyPr/>
          <a:lstStyle/>
          <a:p>
            <a:r>
              <a:rPr lang="en-US" dirty="0"/>
              <a:t>Date</a:t>
            </a:r>
          </a:p>
        </p:txBody>
      </p:sp>
      <p:pic>
        <p:nvPicPr>
          <p:cNvPr id="15" name="Picture 14" descr="week1_implementation_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10698480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08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289732"/>
          </a:xfrm>
        </p:spPr>
        <p:txBody>
          <a:bodyPr>
            <a:normAutofit/>
          </a:bodyPr>
          <a:lstStyle/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ate Placeholder 3"/>
          <p:cNvSpPr txBox="1"/>
          <p:nvPr/>
        </p:nvSpPr>
        <p:spPr>
          <a:xfrm>
            <a:off x="8077200" y="57260"/>
            <a:ext cx="990600" cy="3499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2025 - 26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C85129E-0B0B-4C64-B8AF-D54998216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>
            <a:normAutofit/>
          </a:bodyPr>
          <a:lstStyle/>
          <a:p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1ABF561-8E91-4704-BDD7-0520E384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</p:spPr>
        <p:txBody>
          <a:bodyPr/>
          <a:lstStyle/>
          <a:p>
            <a:pPr algn="r"/>
            <a:r>
              <a:rPr lang="en-US" sz="1400" dirty="0">
                <a:solidFill>
                  <a:schemeClr val="tx2"/>
                </a:solidFill>
              </a:rPr>
              <a:t>Department of CSE, Vemana IT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6885163-434D-45CD-97C7-0ED98D1517AC}"/>
              </a:ext>
            </a:extLst>
          </p:cNvPr>
          <p:cNvSpPr txBox="1"/>
          <p:nvPr/>
        </p:nvSpPr>
        <p:spPr>
          <a:xfrm>
            <a:off x="457200" y="205978"/>
            <a:ext cx="2819400" cy="2012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TITLE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D257C7DE-82B0-4BFD-ADB2-512C0711F0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</p:spPr>
        <p:txBody>
          <a:bodyPr/>
          <a:lstStyle/>
          <a:p>
            <a:r>
              <a:rPr lang="en-US" dirty="0"/>
              <a:t>Date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7E2142E-82BB-4994-B007-795485F7F8C9}"/>
              </a:ext>
            </a:extLst>
          </p:cNvPr>
          <p:cNvSpPr txBox="1"/>
          <p:nvPr/>
        </p:nvSpPr>
        <p:spPr>
          <a:xfrm>
            <a:off x="8229600" y="4770399"/>
            <a:ext cx="668438" cy="270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tx2"/>
                </a:solidFill>
              </a:rPr>
              <a:t>Slide no</a:t>
            </a:r>
          </a:p>
        </p:txBody>
      </p:sp>
    </p:spTree>
    <p:extLst>
      <p:ext uri="{BB962C8B-B14F-4D97-AF65-F5344CB8AC3E}">
        <p14:creationId xmlns:p14="http://schemas.microsoft.com/office/powerpoint/2010/main" val="815116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5950"/>
            <a:ext cx="8229600" cy="857250"/>
          </a:xfrm>
        </p:spPr>
        <p:txBody>
          <a:bodyPr>
            <a:normAutofit/>
          </a:bodyPr>
          <a:lstStyle/>
          <a:p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3810B73-4AAA-481B-91C3-62C546016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</p:spPr>
        <p:txBody>
          <a:bodyPr/>
          <a:lstStyle/>
          <a:p>
            <a:pPr algn="r"/>
            <a:r>
              <a:rPr lang="en-US" sz="1400" dirty="0">
                <a:solidFill>
                  <a:schemeClr val="tx2"/>
                </a:solidFill>
              </a:rPr>
              <a:t>Department of CSE, Vemana IT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6885163-434D-45CD-97C7-0ED98D1517AC}"/>
              </a:ext>
            </a:extLst>
          </p:cNvPr>
          <p:cNvSpPr txBox="1"/>
          <p:nvPr/>
        </p:nvSpPr>
        <p:spPr>
          <a:xfrm>
            <a:off x="457200" y="205978"/>
            <a:ext cx="2819400" cy="2012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TITLE</a:t>
            </a:r>
          </a:p>
        </p:txBody>
      </p:sp>
      <p:sp>
        <p:nvSpPr>
          <p:cNvPr id="14" name="Date Placeholder 3"/>
          <p:cNvSpPr txBox="1"/>
          <p:nvPr/>
        </p:nvSpPr>
        <p:spPr>
          <a:xfrm>
            <a:off x="8077200" y="57260"/>
            <a:ext cx="990600" cy="3499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2025 - 26 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D257C7DE-82B0-4BFD-ADB2-512C0711F0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</p:spPr>
        <p:txBody>
          <a:bodyPr/>
          <a:lstStyle/>
          <a:p>
            <a:r>
              <a:rPr lang="en-US" dirty="0"/>
              <a:t>Date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BAABC9F-2C43-4E9E-95B7-07D7A0433B5A}"/>
              </a:ext>
            </a:extLst>
          </p:cNvPr>
          <p:cNvSpPr txBox="1"/>
          <p:nvPr/>
        </p:nvSpPr>
        <p:spPr>
          <a:xfrm>
            <a:off x="8229600" y="4770399"/>
            <a:ext cx="668438" cy="270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rtl="0" latinLnBrk="0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tx2"/>
                </a:solidFill>
              </a:rPr>
              <a:t>Slide no</a:t>
            </a:r>
          </a:p>
        </p:txBody>
      </p:sp>
    </p:spTree>
    <p:extLst>
      <p:ext uri="{BB962C8B-B14F-4D97-AF65-F5344CB8AC3E}">
        <p14:creationId xmlns:p14="http://schemas.microsoft.com/office/powerpoint/2010/main" val="1957674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</Words>
  <Application>Microsoft Office PowerPoint</Application>
  <PresentationFormat>On-screen Show (16:9)</PresentationFormat>
  <Paragraphs>155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   BCS786 Major Project Phase-II  Review 3  </vt:lpstr>
      <vt:lpstr>BIRD VIEW</vt:lpstr>
      <vt:lpstr>INTRODUCTION</vt:lpstr>
      <vt:lpstr>MOTIVATION</vt:lpstr>
      <vt:lpstr>ABSTRACT</vt:lpstr>
      <vt:lpstr>LITERATURE SURVEY - 1</vt:lpstr>
      <vt:lpstr>COMPARATIVE ANALYSIS </vt:lpstr>
      <vt:lpstr>PROBLEM STATEMENT</vt:lpstr>
      <vt:lpstr>PROPOSED SYSTEM</vt:lpstr>
      <vt:lpstr>SYSTEM REQUIREMENTS (HARDWARE &amp; SOFTWARE REQUIREMENTS)</vt:lpstr>
      <vt:lpstr>METHODOLOGY (SYSTEM ARCHITECTURE &amp; DATAFLOW DIAGRAM)</vt:lpstr>
      <vt:lpstr>MODULE DESCRIPTION (SYSTEM ARCHITECTURE, DATA FLOW DIAGRAM, SEQUENCE DIAGRAM, USE CASE DIAGRAM)</vt:lpstr>
      <vt:lpstr>IMPLEMENTATION PROGRESS (PARTIAL CODE, CODE SNIPPETS OF THE UI/BACKEND DEVELOPED SO FAR)</vt:lpstr>
      <vt:lpstr>FUTURE WORK 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4</cp:revision>
  <dcterms:created xsi:type="dcterms:W3CDTF">2016-03-17T09:21:00Z</dcterms:created>
  <dcterms:modified xsi:type="dcterms:W3CDTF">2026-07-27T05:22:04Z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  <property fmtid="{D5CDD505-2E9C-101B-9397-08002B2CF9AE}" pid="4" name="KSOProductBuildVer">
    <vt:lpwstr>1033-11.2.0.8942</vt:lpwstr>
  </property>
</Properties>
</file>